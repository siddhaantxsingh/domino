
<file path=[Content_Types].xml><?xml version="1.0" encoding="utf-8"?>
<Types xmlns="http://schemas.openxmlformats.org/package/2006/content-types">
  <Default ContentType="application/x-fontdata" Extension="fntdata"/>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7"/>
    <p:sldId id="257" r:id="rId8"/>
    <p:sldId id="258" r:id="rId9"/>
    <p:sldId id="259" r:id="rId10"/>
    <p:sldId id="260" r:id="rId11"/>
  </p:sldIdLst>
  <p:sldSz cx="9144000" cy="5143500" type="screen4x3"/>
  <p:notesSz cx="6858000" cy="9144000"/>
  <p:embeddedFontLst>
    <p:embeddedFont>
      <p:font typeface="Source Serif 4"/>
      <p:regular r:id="rId13"/>
      <p:bold r:id="rId14"/>
    </p:embeddedFont>
    <p:embeddedFont>
      <p:font typeface="Libre Franklin"/>
      <p:regular r:id="rId15"/>
      <p:bold r:id="rId1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font" Target="fonts/SourceSerif4-regular.fntdata"/><Relationship Id="rId14" Type="http://schemas.openxmlformats.org/officeDocument/2006/relationships/font" Target="fonts/SourceSerif4-bold.fntdata"/><Relationship Id="rId15" Type="http://schemas.openxmlformats.org/officeDocument/2006/relationships/font" Target="fonts/LibreFranklin-regular.fntdata"/><Relationship Id="rId16" Type="http://schemas.openxmlformats.org/officeDocument/2006/relationships/font" Target="fonts/LibreFranklin-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question, not the technology. One bridge goes down, everyone can picture that bridge, almost nobody can picture what happens three steps later. Read the chain on the right out loud, because those are our engine's real numbers, not an illustration. Forty seconds, then move.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whole idea in one worked example. Walk the four panels left to right: the bridge fails and nothing looks wrong, the traffic moves and a road hits 1.3 times capacity, we test four actions and one of them holds in sixty minutes, and then the same engine on a different bridge says nothing holds at all. That last panel is the point. Same tool, two completely different kinds of decision: one you make in ninety minutes, one you make years earlier with capital. Then the score breakdown, so they know it is never a black box, and the dark zone 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The stack is deliberately ordinary. What matters is the screenshot: this runs, you can click any road in it and it recomputes. Be first to say the corridor is synthetic and that swapping in real OpenStreetMap geometry replaces one function.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separate evidence bases, and say that out loud so nobody thinks we blurred them. First, real population data: remove a hospital, access falls to 68.3, our action takes it to 83.3, which is above where we started. Second, our engine on the prototype corridor answering the budget question: twice the people protected, for less money, and it tells the city to stop spending at 8.9 crore. Then name our own limits before a judge finds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buyer's question. What we actually sell is a number they can put in a report and watch move. Keep the ask small and checkable. Then read the last line and stop.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 name="Picture 2" descr="map_plate_lt.png"/>
          <p:cNvPicPr>
            <a:picLocks noChangeAspect="1"/>
          </p:cNvPicPr>
          <p:nvPr/>
        </p:nvPicPr>
        <p:blipFill>
          <a:blip r:embed="rId2"/>
          <a:stretch>
            <a:fillRect/>
          </a:stretch>
        </p:blipFill>
        <p:spPr>
          <a:xfrm>
            <a:off x="0" y="0"/>
            <a:ext cx="9144000" cy="5143500"/>
          </a:xfrm>
          <a:prstGeom prst="rect">
            <a:avLst/>
          </a:prstGeom>
        </p:spPr>
      </p:pic>
      <p:sp>
        <p:nvSpPr>
          <p:cNvPr id="4" name="Rectangle 3"/>
          <p:cNvSpPr/>
          <p:nvPr/>
        </p:nvSpPr>
        <p:spPr>
          <a:xfrm>
            <a:off x="0" y="0"/>
            <a:ext cx="9144000" cy="566928"/>
          </a:xfrm>
          <a:prstGeom prst="rect">
            <a:avLst/>
          </a:prstGeom>
          <a:solidFill>
            <a:srgbClr val="FFFFFF">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512064"/>
            <a:ext cx="5532120" cy="3611880"/>
          </a:xfrm>
          <a:prstGeom prst="rect">
            <a:avLst/>
          </a:prstGeom>
          <a:gradFill rotWithShape="1">
            <a:gsLst>
              <a:gs pos="0">
                <a:srgbClr val="FFFFFF">
                  <a:alpha val="94000"/>
                </a:srgbClr>
              </a:gs>
              <a:gs pos="72000">
                <a:srgbClr val="FFFFFF">
                  <a:alpha val="80000"/>
                </a:srgbClr>
              </a:gs>
              <a:gs pos="100000">
                <a:srgbClr val="FFFFFF">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0" y="4041648"/>
            <a:ext cx="9144000" cy="1101852"/>
          </a:xfrm>
          <a:prstGeom prst="rect">
            <a:avLst/>
          </a:prstGeom>
          <a:solidFill>
            <a:srgbClr val="FFFFFF">
              <a:alpha val="9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384048" y="182880"/>
            <a:ext cx="5120640" cy="256032"/>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4181B"/>
                </a:solidFill>
                <a:latin typeface="Source Serif 4"/>
              </a:rPr>
              <a:t>Manipal Hackathon 2026</a:t>
            </a:r>
          </a:p>
        </p:txBody>
      </p:sp>
      <p:pic>
        <p:nvPicPr>
          <p:cNvPr id="8" name="Picture 7" descr="logo_m26.png"/>
          <p:cNvPicPr>
            <a:picLocks noChangeAspect="1"/>
          </p:cNvPicPr>
          <p:nvPr/>
        </p:nvPicPr>
        <p:blipFill>
          <a:blip r:embed="rId3"/>
          <a:stretch>
            <a:fillRect/>
          </a:stretch>
        </p:blipFill>
        <p:spPr>
          <a:xfrm>
            <a:off x="8195825" y="86900"/>
            <a:ext cx="832675" cy="618513"/>
          </a:xfrm>
          <a:prstGeom prst="rect">
            <a:avLst/>
          </a:prstGeom>
        </p:spPr>
      </p:pic>
      <p:sp>
        <p:nvSpPr>
          <p:cNvPr id="9" name="Rectangle 8"/>
          <p:cNvSpPr/>
          <p:nvPr/>
        </p:nvSpPr>
        <p:spPr>
          <a:xfrm>
            <a:off x="0" y="566928"/>
            <a:ext cx="9144000" cy="12802"/>
          </a:xfrm>
          <a:prstGeom prst="rect">
            <a:avLst/>
          </a:prstGeom>
          <a:solidFill>
            <a:srgbClr val="DCE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0" y="566928"/>
            <a:ext cx="1481328" cy="12802"/>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384048" y="786384"/>
            <a:ext cx="54864" cy="237744"/>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781812"/>
            <a:ext cx="4846320" cy="201168"/>
          </a:xfrm>
          <a:prstGeom prst="rect">
            <a:avLst/>
          </a:prstGeom>
          <a:noFill/>
        </p:spPr>
        <p:txBody>
          <a:bodyPr wrap="square" lIns="0" rIns="0" tIns="0" bIns="0" anchor="t"/>
          <a:lstStyle/>
          <a:p>
            <a:pPr algn="l">
              <a:lnSpc>
                <a:spcPct val="100000"/>
              </a:lnSpc>
              <a:spcBef>
                <a:spcPts val="0"/>
              </a:spcBef>
              <a:spcAft>
                <a:spcPts val="0"/>
              </a:spcAft>
            </a:pPr>
            <a:r>
              <a:rPr sz="1100" b="1" i="0" spc="30">
                <a:solidFill>
                  <a:srgbClr val="BF5B12"/>
                </a:solidFill>
                <a:latin typeface="Libre Franklin"/>
              </a:rPr>
              <a:t>Problem Statement P05  ·  Cascading Failure</a:t>
            </a:r>
          </a:p>
        </p:txBody>
      </p:sp>
      <p:sp>
        <p:nvSpPr>
          <p:cNvPr id="13" name="TextBox 12"/>
          <p:cNvSpPr txBox="1"/>
          <p:nvPr/>
        </p:nvSpPr>
        <p:spPr>
          <a:xfrm>
            <a:off x="384048" y="1097280"/>
            <a:ext cx="4937760" cy="1115568"/>
          </a:xfrm>
          <a:prstGeom prst="rect">
            <a:avLst/>
          </a:prstGeom>
          <a:noFill/>
        </p:spPr>
        <p:txBody>
          <a:bodyPr wrap="square" lIns="0" rIns="0" tIns="0" bIns="0" anchor="t"/>
          <a:lstStyle/>
          <a:p>
            <a:pPr algn="l">
              <a:lnSpc>
                <a:spcPct val="110000"/>
              </a:lnSpc>
              <a:spcBef>
                <a:spcPts val="0"/>
              </a:spcBef>
              <a:spcAft>
                <a:spcPts val="0"/>
              </a:spcAft>
            </a:pPr>
            <a:r>
              <a:rPr sz="3500" b="1" i="0" spc="-60">
                <a:solidFill>
                  <a:srgbClr val="14181B"/>
                </a:solidFill>
                <a:latin typeface="Source Serif 4"/>
              </a:rPr>
              <a:t>When one bridge fails,</a:t>
            </a:r>
          </a:p>
          <a:p>
            <a:pPr algn="l">
              <a:lnSpc>
                <a:spcPct val="110000"/>
              </a:lnSpc>
              <a:spcBef>
                <a:spcPts val="0"/>
              </a:spcBef>
              <a:spcAft>
                <a:spcPts val="0"/>
              </a:spcAft>
            </a:pPr>
            <a:r>
              <a:rPr sz="3500" b="1" i="0" spc="-60">
                <a:solidFill>
                  <a:srgbClr val="BF5B12"/>
                </a:solidFill>
                <a:latin typeface="Source Serif 4"/>
              </a:rPr>
              <a:t>what breaks next?</a:t>
            </a:r>
          </a:p>
        </p:txBody>
      </p:sp>
      <p:sp>
        <p:nvSpPr>
          <p:cNvPr id="14" name="Rectangle 13"/>
          <p:cNvSpPr/>
          <p:nvPr/>
        </p:nvSpPr>
        <p:spPr>
          <a:xfrm>
            <a:off x="384048" y="2304288"/>
            <a:ext cx="4937760" cy="10973"/>
          </a:xfrm>
          <a:prstGeom prst="rect">
            <a:avLst/>
          </a:prstGeom>
          <a:solidFill>
            <a:srgbClr val="BCC5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84048" y="2432304"/>
            <a:ext cx="3291840" cy="621792"/>
          </a:xfrm>
          <a:prstGeom prst="rect">
            <a:avLst/>
          </a:prstGeom>
          <a:noFill/>
        </p:spPr>
        <p:txBody>
          <a:bodyPr wrap="square" lIns="0" rIns="0" tIns="0" bIns="0" anchor="t"/>
          <a:lstStyle/>
          <a:p>
            <a:pPr algn="l">
              <a:lnSpc>
                <a:spcPct val="100000"/>
              </a:lnSpc>
              <a:spcBef>
                <a:spcPts val="0"/>
              </a:spcBef>
              <a:spcAft>
                <a:spcPts val="0"/>
              </a:spcAft>
            </a:pPr>
            <a:r>
              <a:rPr sz="4400" b="1" i="0" spc="240">
                <a:solidFill>
                  <a:srgbClr val="14181B"/>
                </a:solidFill>
                <a:latin typeface="Source Serif 4"/>
              </a:rPr>
              <a:t>DOMINO</a:t>
            </a:r>
          </a:p>
        </p:txBody>
      </p:sp>
      <p:sp>
        <p:nvSpPr>
          <p:cNvPr id="16" name="TextBox 15"/>
          <p:cNvSpPr txBox="1"/>
          <p:nvPr/>
        </p:nvSpPr>
        <p:spPr>
          <a:xfrm>
            <a:off x="384048" y="3054096"/>
            <a:ext cx="4937760" cy="219456"/>
          </a:xfrm>
          <a:prstGeom prst="rect">
            <a:avLst/>
          </a:prstGeom>
          <a:noFill/>
        </p:spPr>
        <p:txBody>
          <a:bodyPr wrap="square" lIns="0" rIns="0" tIns="0" bIns="0" anchor="t"/>
          <a:lstStyle/>
          <a:p>
            <a:pPr algn="l">
              <a:lnSpc>
                <a:spcPct val="100000"/>
              </a:lnSpc>
              <a:spcBef>
                <a:spcPts val="0"/>
              </a:spcBef>
              <a:spcAft>
                <a:spcPts val="0"/>
              </a:spcAft>
            </a:pPr>
            <a:r>
              <a:rPr sz="1250" b="0" i="0">
                <a:solidFill>
                  <a:srgbClr val="44505A"/>
                </a:solidFill>
                <a:latin typeface="Libre Franklin"/>
              </a:rPr>
              <a:t>Explainable Infrastructure Cascade &amp; Intervention Engine</a:t>
            </a:r>
          </a:p>
        </p:txBody>
      </p:sp>
      <p:sp>
        <p:nvSpPr>
          <p:cNvPr id="17" name="Rectangle 16"/>
          <p:cNvSpPr/>
          <p:nvPr/>
        </p:nvSpPr>
        <p:spPr>
          <a:xfrm>
            <a:off x="384048" y="3383280"/>
            <a:ext cx="4937760" cy="438912"/>
          </a:xfrm>
          <a:prstGeom prst="rect">
            <a:avLst/>
          </a:prstGeom>
          <a:solidFill>
            <a:srgbClr val="BF5B12">
              <a:alpha val="11000"/>
            </a:srgbClr>
          </a:solidFill>
          <a:ln w="13970">
            <a:solidFill>
              <a:srgbClr val="BF5B12">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384048" y="3383280"/>
            <a:ext cx="45720" cy="438912"/>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66928" y="3511296"/>
            <a:ext cx="4709160" cy="219456"/>
          </a:xfrm>
          <a:prstGeom prst="rect">
            <a:avLst/>
          </a:prstGeom>
          <a:noFill/>
        </p:spPr>
        <p:txBody>
          <a:bodyPr wrap="square" lIns="0" rIns="0" tIns="0" bIns="0" anchor="t"/>
          <a:lstStyle/>
          <a:p>
            <a:pPr algn="l">
              <a:lnSpc>
                <a:spcPct val="100000"/>
              </a:lnSpc>
              <a:spcBef>
                <a:spcPts val="0"/>
              </a:spcBef>
              <a:spcAft>
                <a:spcPts val="0"/>
              </a:spcAft>
            </a:pPr>
            <a:r>
              <a:rPr sz="1100" b="1" i="0">
                <a:solidFill>
                  <a:srgbClr val="BF5B12"/>
                </a:solidFill>
                <a:latin typeface="Libre Franklin"/>
              </a:rPr>
              <a:t>Find the next domino. Stop the cascade. Protect the dark zones.</a:t>
            </a:r>
          </a:p>
        </p:txBody>
      </p:sp>
      <p:sp>
        <p:nvSpPr>
          <p:cNvPr id="20" name="TextBox 19"/>
          <p:cNvSpPr txBox="1"/>
          <p:nvPr/>
        </p:nvSpPr>
        <p:spPr>
          <a:xfrm>
            <a:off x="5669280" y="777240"/>
            <a:ext cx="3090672" cy="201168"/>
          </a:xfrm>
          <a:prstGeom prst="rect">
            <a:avLst/>
          </a:prstGeom>
          <a:noFill/>
        </p:spPr>
        <p:txBody>
          <a:bodyPr wrap="square" lIns="0" rIns="0" tIns="0" bIns="0" anchor="t"/>
          <a:lstStyle/>
          <a:p>
            <a:pPr algn="l">
              <a:lnSpc>
                <a:spcPct val="100000"/>
              </a:lnSpc>
              <a:spcBef>
                <a:spcPts val="0"/>
              </a:spcBef>
              <a:spcAft>
                <a:spcPts val="0"/>
              </a:spcAft>
            </a:pPr>
            <a:r>
              <a:rPr sz="950" b="1" i="0" spc="80">
                <a:solidFill>
                  <a:srgbClr val="5F6A72"/>
                </a:solidFill>
                <a:latin typeface="Libre Franklin"/>
              </a:rPr>
              <a:t>ONE BRIDGE, TRACED THROUGH OUR ENGINE</a:t>
            </a:r>
          </a:p>
        </p:txBody>
      </p:sp>
      <p:sp>
        <p:nvSpPr>
          <p:cNvPr id="21" name="Rectangle 20"/>
          <p:cNvSpPr/>
          <p:nvPr/>
        </p:nvSpPr>
        <p:spPr>
          <a:xfrm>
            <a:off x="5669280" y="1042416"/>
            <a:ext cx="3090672" cy="498348"/>
          </a:xfrm>
          <a:prstGeom prst="rect">
            <a:avLst/>
          </a:prstGeom>
          <a:solidFill>
            <a:srgbClr val="FAFBFC">
              <a:alpha val="100000"/>
            </a:srgbClr>
          </a:solidFill>
          <a:ln w="13970">
            <a:solidFill>
              <a:srgbClr val="C62828">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5669280" y="1042416"/>
            <a:ext cx="45720" cy="4983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bridge_56b06c4115ba.png"/>
          <p:cNvPicPr>
            <a:picLocks noChangeAspect="1"/>
          </p:cNvPicPr>
          <p:nvPr/>
        </p:nvPicPr>
        <p:blipFill>
          <a:blip r:embed="rId4"/>
          <a:stretch>
            <a:fillRect/>
          </a:stretch>
        </p:blipFill>
        <p:spPr>
          <a:xfrm>
            <a:off x="5870448" y="1163574"/>
            <a:ext cx="256032" cy="256032"/>
          </a:xfrm>
          <a:prstGeom prst="rect">
            <a:avLst/>
          </a:prstGeom>
        </p:spPr>
      </p:pic>
      <p:sp>
        <p:nvSpPr>
          <p:cNvPr id="24" name="TextBox 23"/>
          <p:cNvSpPr txBox="1"/>
          <p:nvPr/>
        </p:nvSpPr>
        <p:spPr>
          <a:xfrm>
            <a:off x="6254496" y="1138428"/>
            <a:ext cx="2377440" cy="219456"/>
          </a:xfrm>
          <a:prstGeom prst="rect">
            <a:avLst/>
          </a:prstGeom>
          <a:noFill/>
        </p:spPr>
        <p:txBody>
          <a:bodyPr wrap="square" lIns="0" rIns="0" tIns="0" bIns="0" anchor="t"/>
          <a:lstStyle/>
          <a:p>
            <a:pPr algn="l">
              <a:lnSpc>
                <a:spcPct val="100000"/>
              </a:lnSpc>
              <a:spcBef>
                <a:spcPts val="0"/>
              </a:spcBef>
              <a:spcAft>
                <a:spcPts val="0"/>
              </a:spcAft>
            </a:pPr>
            <a:r>
              <a:rPr sz="1200" b="1" i="0">
                <a:solidFill>
                  <a:srgbClr val="14181B"/>
                </a:solidFill>
                <a:latin typeface="Source Serif 4"/>
              </a:rPr>
              <a:t>Bridge B07 fails</a:t>
            </a:r>
          </a:p>
        </p:txBody>
      </p:sp>
      <p:sp>
        <p:nvSpPr>
          <p:cNvPr id="25" name="TextBox 24"/>
          <p:cNvSpPr txBox="1"/>
          <p:nvPr/>
        </p:nvSpPr>
        <p:spPr>
          <a:xfrm>
            <a:off x="6254496" y="1348740"/>
            <a:ext cx="2377440" cy="182880"/>
          </a:xfrm>
          <a:prstGeom prst="rect">
            <a:avLst/>
          </a:prstGeom>
          <a:noFill/>
        </p:spPr>
        <p:txBody>
          <a:bodyPr wrap="square" lIns="0" rIns="0" tIns="0" bIns="0" anchor="t"/>
          <a:lstStyle/>
          <a:p>
            <a:pPr algn="l">
              <a:lnSpc>
                <a:spcPct val="100000"/>
              </a:lnSpc>
              <a:spcBef>
                <a:spcPts val="0"/>
              </a:spcBef>
              <a:spcAft>
                <a:spcPts val="0"/>
              </a:spcAft>
            </a:pPr>
            <a:r>
              <a:rPr sz="950" b="0" i="0">
                <a:solidFill>
                  <a:srgbClr val="5F6A72"/>
                </a:solidFill>
                <a:latin typeface="Libre Franklin"/>
              </a:rPr>
              <a:t>89% can still reach help</a:t>
            </a:r>
          </a:p>
        </p:txBody>
      </p:sp>
      <p:cxnSp>
        <p:nvCxnSpPr>
          <p:cNvPr id="26" name="Connector 25"/>
          <p:cNvCxnSpPr/>
          <p:nvPr/>
        </p:nvCxnSpPr>
        <p:spPr>
          <a:xfrm>
            <a:off x="6035040" y="1549908"/>
            <a:ext cx="0" cy="77724"/>
          </a:xfrm>
          <a:prstGeom prst="line">
            <a:avLst/>
          </a:prstGeom>
          <a:ln w="17780">
            <a:solidFill>
              <a:srgbClr val="BCC5CB">
                <a:alpha val="100000"/>
              </a:srgbClr>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669280" y="1636776"/>
            <a:ext cx="3090672" cy="498348"/>
          </a:xfrm>
          <a:prstGeom prst="rect">
            <a:avLst/>
          </a:prstGeom>
          <a:solidFill>
            <a:srgbClr val="FAFBFC">
              <a:alpha val="100000"/>
            </a:srgbClr>
          </a:solidFill>
          <a:ln w="13970">
            <a:solidFill>
              <a:srgbClr val="BF5B12">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5669280" y="1636776"/>
            <a:ext cx="45720" cy="498348"/>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road_c26bfbe56756.png"/>
          <p:cNvPicPr>
            <a:picLocks noChangeAspect="1"/>
          </p:cNvPicPr>
          <p:nvPr/>
        </p:nvPicPr>
        <p:blipFill>
          <a:blip r:embed="rId5"/>
          <a:stretch>
            <a:fillRect/>
          </a:stretch>
        </p:blipFill>
        <p:spPr>
          <a:xfrm>
            <a:off x="5870448" y="1757934"/>
            <a:ext cx="256032" cy="256032"/>
          </a:xfrm>
          <a:prstGeom prst="rect">
            <a:avLst/>
          </a:prstGeom>
        </p:spPr>
      </p:pic>
      <p:sp>
        <p:nvSpPr>
          <p:cNvPr id="30" name="TextBox 29"/>
          <p:cNvSpPr txBox="1"/>
          <p:nvPr/>
        </p:nvSpPr>
        <p:spPr>
          <a:xfrm>
            <a:off x="6254496" y="1732788"/>
            <a:ext cx="2377440" cy="219456"/>
          </a:xfrm>
          <a:prstGeom prst="rect">
            <a:avLst/>
          </a:prstGeom>
          <a:noFill/>
        </p:spPr>
        <p:txBody>
          <a:bodyPr wrap="square" lIns="0" rIns="0" tIns="0" bIns="0" anchor="t"/>
          <a:lstStyle/>
          <a:p>
            <a:pPr algn="l">
              <a:lnSpc>
                <a:spcPct val="100000"/>
              </a:lnSpc>
              <a:spcBef>
                <a:spcPts val="0"/>
              </a:spcBef>
              <a:spcAft>
                <a:spcPts val="0"/>
              </a:spcAft>
            </a:pPr>
            <a:r>
              <a:rPr sz="1200" b="1" i="0">
                <a:solidFill>
                  <a:srgbClr val="14181B"/>
                </a:solidFill>
                <a:latin typeface="Source Serif 4"/>
              </a:rPr>
              <a:t>Coastal road N2</a:t>
            </a:r>
          </a:p>
        </p:txBody>
      </p:sp>
      <p:sp>
        <p:nvSpPr>
          <p:cNvPr id="31" name="TextBox 30"/>
          <p:cNvSpPr txBox="1"/>
          <p:nvPr/>
        </p:nvSpPr>
        <p:spPr>
          <a:xfrm>
            <a:off x="6254496" y="1943100"/>
            <a:ext cx="2377440" cy="182880"/>
          </a:xfrm>
          <a:prstGeom prst="rect">
            <a:avLst/>
          </a:prstGeom>
          <a:noFill/>
        </p:spPr>
        <p:txBody>
          <a:bodyPr wrap="square" lIns="0" rIns="0" tIns="0" bIns="0" anchor="t"/>
          <a:lstStyle/>
          <a:p>
            <a:pPr algn="l">
              <a:lnSpc>
                <a:spcPct val="100000"/>
              </a:lnSpc>
              <a:spcBef>
                <a:spcPts val="0"/>
              </a:spcBef>
              <a:spcAft>
                <a:spcPts val="0"/>
              </a:spcAft>
            </a:pPr>
            <a:r>
              <a:rPr sz="950" b="0" i="0">
                <a:solidFill>
                  <a:srgbClr val="5F6A72"/>
                </a:solidFill>
                <a:latin typeface="Libre Franklin"/>
              </a:rPr>
              <a:t>jumps to 1.3× capacity</a:t>
            </a:r>
          </a:p>
        </p:txBody>
      </p:sp>
      <p:cxnSp>
        <p:nvCxnSpPr>
          <p:cNvPr id="32" name="Connector 31"/>
          <p:cNvCxnSpPr/>
          <p:nvPr/>
        </p:nvCxnSpPr>
        <p:spPr>
          <a:xfrm>
            <a:off x="6035040" y="2144268"/>
            <a:ext cx="0" cy="77724"/>
          </a:xfrm>
          <a:prstGeom prst="line">
            <a:avLst/>
          </a:prstGeom>
          <a:ln w="17780">
            <a:solidFill>
              <a:srgbClr val="BCC5CB">
                <a:alpha val="100000"/>
              </a:srgbClr>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669280" y="2231136"/>
            <a:ext cx="3090672" cy="498348"/>
          </a:xfrm>
          <a:prstGeom prst="rect">
            <a:avLst/>
          </a:prstGeom>
          <a:solidFill>
            <a:srgbClr val="FAFBFC">
              <a:alpha val="100000"/>
            </a:srgbClr>
          </a:solidFill>
          <a:ln w="13970">
            <a:solidFill>
              <a:srgbClr val="BF5B12">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5669280" y="2231136"/>
            <a:ext cx="45720" cy="498348"/>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5" name="Picture 34" descr="hospital_a66d41ec63ba.png"/>
          <p:cNvPicPr>
            <a:picLocks noChangeAspect="1"/>
          </p:cNvPicPr>
          <p:nvPr/>
        </p:nvPicPr>
        <p:blipFill>
          <a:blip r:embed="rId6"/>
          <a:stretch>
            <a:fillRect/>
          </a:stretch>
        </p:blipFill>
        <p:spPr>
          <a:xfrm>
            <a:off x="5870448" y="2352294"/>
            <a:ext cx="256032" cy="256032"/>
          </a:xfrm>
          <a:prstGeom prst="rect">
            <a:avLst/>
          </a:prstGeom>
        </p:spPr>
      </p:pic>
      <p:sp>
        <p:nvSpPr>
          <p:cNvPr id="36" name="TextBox 35"/>
          <p:cNvSpPr txBox="1"/>
          <p:nvPr/>
        </p:nvSpPr>
        <p:spPr>
          <a:xfrm>
            <a:off x="6254496" y="2327148"/>
            <a:ext cx="2377440" cy="219456"/>
          </a:xfrm>
          <a:prstGeom prst="rect">
            <a:avLst/>
          </a:prstGeom>
          <a:noFill/>
        </p:spPr>
        <p:txBody>
          <a:bodyPr wrap="square" lIns="0" rIns="0" tIns="0" bIns="0" anchor="t"/>
          <a:lstStyle/>
          <a:p>
            <a:pPr algn="l">
              <a:lnSpc>
                <a:spcPct val="100000"/>
              </a:lnSpc>
              <a:spcBef>
                <a:spcPts val="0"/>
              </a:spcBef>
              <a:spcAft>
                <a:spcPts val="0"/>
              </a:spcAft>
            </a:pPr>
            <a:r>
              <a:rPr sz="1200" b="1" i="0">
                <a:solidFill>
                  <a:srgbClr val="14181B"/>
                </a:solidFill>
                <a:latin typeface="Source Serif 4"/>
              </a:rPr>
              <a:t>Hospital &amp; fire routes</a:t>
            </a:r>
          </a:p>
        </p:txBody>
      </p:sp>
      <p:sp>
        <p:nvSpPr>
          <p:cNvPr id="37" name="TextBox 36"/>
          <p:cNvSpPr txBox="1"/>
          <p:nvPr/>
        </p:nvSpPr>
        <p:spPr>
          <a:xfrm>
            <a:off x="6254496" y="2537460"/>
            <a:ext cx="2377440" cy="182880"/>
          </a:xfrm>
          <a:prstGeom prst="rect">
            <a:avLst/>
          </a:prstGeom>
          <a:noFill/>
        </p:spPr>
        <p:txBody>
          <a:bodyPr wrap="square" lIns="0" rIns="0" tIns="0" bIns="0" anchor="t"/>
          <a:lstStyle/>
          <a:p>
            <a:pPr algn="l">
              <a:lnSpc>
                <a:spcPct val="100000"/>
              </a:lnSpc>
              <a:spcBef>
                <a:spcPts val="0"/>
              </a:spcBef>
              <a:spcAft>
                <a:spcPts val="0"/>
              </a:spcAft>
            </a:pPr>
            <a:r>
              <a:rPr sz="950" b="0" i="0">
                <a:solidFill>
                  <a:srgbClr val="5F6A72"/>
                </a:solidFill>
                <a:latin typeface="Libre Franklin"/>
              </a:rPr>
              <a:t>87% of them use that road</a:t>
            </a:r>
          </a:p>
        </p:txBody>
      </p:sp>
      <p:cxnSp>
        <p:nvCxnSpPr>
          <p:cNvPr id="38" name="Connector 37"/>
          <p:cNvCxnSpPr/>
          <p:nvPr/>
        </p:nvCxnSpPr>
        <p:spPr>
          <a:xfrm>
            <a:off x="6035040" y="2738628"/>
            <a:ext cx="0" cy="77724"/>
          </a:xfrm>
          <a:prstGeom prst="line">
            <a:avLst/>
          </a:prstGeom>
          <a:ln w="17780">
            <a:solidFill>
              <a:srgbClr val="BCC5CB">
                <a:alpha val="100000"/>
              </a:srgbClr>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669280" y="2825496"/>
            <a:ext cx="3090672" cy="498348"/>
          </a:xfrm>
          <a:prstGeom prst="rect">
            <a:avLst/>
          </a:prstGeom>
          <a:solidFill>
            <a:srgbClr val="FAFBFC">
              <a:alpha val="100000"/>
            </a:srgbClr>
          </a:solidFill>
          <a:ln w="13970">
            <a:solidFill>
              <a:srgbClr val="5E35B1">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5669280" y="2825496"/>
            <a:ext cx="45720" cy="498348"/>
          </a:xfrm>
          <a:prstGeom prst="rect">
            <a:avLst/>
          </a:prstGeom>
          <a:solidFill>
            <a:srgbClr val="5E35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1" name="Picture 40" descr="tower_563b1a0c98f8.png"/>
          <p:cNvPicPr>
            <a:picLocks noChangeAspect="1"/>
          </p:cNvPicPr>
          <p:nvPr/>
        </p:nvPicPr>
        <p:blipFill>
          <a:blip r:embed="rId7"/>
          <a:stretch>
            <a:fillRect/>
          </a:stretch>
        </p:blipFill>
        <p:spPr>
          <a:xfrm>
            <a:off x="5870448" y="2946654"/>
            <a:ext cx="256032" cy="256032"/>
          </a:xfrm>
          <a:prstGeom prst="rect">
            <a:avLst/>
          </a:prstGeom>
        </p:spPr>
      </p:pic>
      <p:sp>
        <p:nvSpPr>
          <p:cNvPr id="42" name="TextBox 41"/>
          <p:cNvSpPr txBox="1"/>
          <p:nvPr/>
        </p:nvSpPr>
        <p:spPr>
          <a:xfrm>
            <a:off x="6254496" y="2921508"/>
            <a:ext cx="2377440" cy="219456"/>
          </a:xfrm>
          <a:prstGeom prst="rect">
            <a:avLst/>
          </a:prstGeom>
          <a:noFill/>
        </p:spPr>
        <p:txBody>
          <a:bodyPr wrap="square" lIns="0" rIns="0" tIns="0" bIns="0" anchor="t"/>
          <a:lstStyle/>
          <a:p>
            <a:pPr algn="l">
              <a:lnSpc>
                <a:spcPct val="100000"/>
              </a:lnSpc>
              <a:spcBef>
                <a:spcPts val="0"/>
              </a:spcBef>
              <a:spcAft>
                <a:spcPts val="0"/>
              </a:spcAft>
            </a:pPr>
            <a:r>
              <a:rPr sz="1200" b="1" i="0">
                <a:solidFill>
                  <a:srgbClr val="14181B"/>
                </a:solidFill>
                <a:latin typeface="Source Serif 4"/>
              </a:rPr>
              <a:t>Tower T-04 is down</a:t>
            </a:r>
          </a:p>
        </p:txBody>
      </p:sp>
      <p:sp>
        <p:nvSpPr>
          <p:cNvPr id="43" name="TextBox 42"/>
          <p:cNvSpPr txBox="1"/>
          <p:nvPr/>
        </p:nvSpPr>
        <p:spPr>
          <a:xfrm>
            <a:off x="6254496" y="3131820"/>
            <a:ext cx="2377440" cy="182880"/>
          </a:xfrm>
          <a:prstGeom prst="rect">
            <a:avLst/>
          </a:prstGeom>
          <a:noFill/>
        </p:spPr>
        <p:txBody>
          <a:bodyPr wrap="square" lIns="0" rIns="0" tIns="0" bIns="0" anchor="t"/>
          <a:lstStyle/>
          <a:p>
            <a:pPr algn="l">
              <a:lnSpc>
                <a:spcPct val="100000"/>
              </a:lnSpc>
              <a:spcBef>
                <a:spcPts val="0"/>
              </a:spcBef>
              <a:spcAft>
                <a:spcPts val="0"/>
              </a:spcAft>
            </a:pPr>
            <a:r>
              <a:rPr sz="950" b="0" i="0">
                <a:solidFill>
                  <a:srgbClr val="5F6A72"/>
                </a:solidFill>
                <a:latin typeface="Libre Franklin"/>
              </a:rPr>
              <a:t>no signal on the coast</a:t>
            </a:r>
          </a:p>
        </p:txBody>
      </p:sp>
      <p:cxnSp>
        <p:nvCxnSpPr>
          <p:cNvPr id="44" name="Connector 43"/>
          <p:cNvCxnSpPr/>
          <p:nvPr/>
        </p:nvCxnSpPr>
        <p:spPr>
          <a:xfrm>
            <a:off x="6035040" y="3332988"/>
            <a:ext cx="0" cy="77724"/>
          </a:xfrm>
          <a:prstGeom prst="line">
            <a:avLst/>
          </a:prstGeom>
          <a:ln w="17780">
            <a:solidFill>
              <a:srgbClr val="BCC5CB">
                <a:alpha val="100000"/>
              </a:srgbClr>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669280" y="3419856"/>
            <a:ext cx="3090672" cy="498348"/>
          </a:xfrm>
          <a:prstGeom prst="rect">
            <a:avLst/>
          </a:prstGeom>
          <a:solidFill>
            <a:srgbClr val="FAFBFC">
              <a:alpha val="100000"/>
            </a:srgbClr>
          </a:solidFill>
          <a:ln w="13970">
            <a:solidFill>
              <a:srgbClr val="7E57C2">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5669280" y="3419856"/>
            <a:ext cx="45720" cy="498348"/>
          </a:xfrm>
          <a:prstGeom prst="rect">
            <a:avLst/>
          </a:prstGeom>
          <a:solidFill>
            <a:srgbClr val="7E57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7" name="Picture 46" descr="people_c7cbcc9fdacd.png"/>
          <p:cNvPicPr>
            <a:picLocks noChangeAspect="1"/>
          </p:cNvPicPr>
          <p:nvPr/>
        </p:nvPicPr>
        <p:blipFill>
          <a:blip r:embed="rId8"/>
          <a:stretch>
            <a:fillRect/>
          </a:stretch>
        </p:blipFill>
        <p:spPr>
          <a:xfrm>
            <a:off x="5870448" y="3541014"/>
            <a:ext cx="256032" cy="256032"/>
          </a:xfrm>
          <a:prstGeom prst="rect">
            <a:avLst/>
          </a:prstGeom>
        </p:spPr>
      </p:pic>
      <p:sp>
        <p:nvSpPr>
          <p:cNvPr id="48" name="TextBox 47"/>
          <p:cNvSpPr txBox="1"/>
          <p:nvPr/>
        </p:nvSpPr>
        <p:spPr>
          <a:xfrm>
            <a:off x="6254496" y="3515868"/>
            <a:ext cx="2377440" cy="219456"/>
          </a:xfrm>
          <a:prstGeom prst="rect">
            <a:avLst/>
          </a:prstGeom>
          <a:noFill/>
        </p:spPr>
        <p:txBody>
          <a:bodyPr wrap="square" lIns="0" rIns="0" tIns="0" bIns="0" anchor="t"/>
          <a:lstStyle/>
          <a:p>
            <a:pPr algn="l">
              <a:lnSpc>
                <a:spcPct val="100000"/>
              </a:lnSpc>
              <a:spcBef>
                <a:spcPts val="0"/>
              </a:spcBef>
              <a:spcAft>
                <a:spcPts val="0"/>
              </a:spcAft>
            </a:pPr>
            <a:r>
              <a:rPr sz="1200" b="1" i="0">
                <a:solidFill>
                  <a:srgbClr val="14181B"/>
                </a:solidFill>
                <a:latin typeface="Source Serif 4"/>
              </a:rPr>
              <a:t>Malpe ward, 5,200 people</a:t>
            </a:r>
          </a:p>
        </p:txBody>
      </p:sp>
      <p:sp>
        <p:nvSpPr>
          <p:cNvPr id="49" name="TextBox 48"/>
          <p:cNvSpPr txBox="1"/>
          <p:nvPr/>
        </p:nvSpPr>
        <p:spPr>
          <a:xfrm>
            <a:off x="6254496" y="3726180"/>
            <a:ext cx="2377440" cy="182880"/>
          </a:xfrm>
          <a:prstGeom prst="rect">
            <a:avLst/>
          </a:prstGeom>
          <a:noFill/>
        </p:spPr>
        <p:txBody>
          <a:bodyPr wrap="square" lIns="0" rIns="0" tIns="0" bIns="0" anchor="t"/>
          <a:lstStyle/>
          <a:p>
            <a:pPr algn="l">
              <a:lnSpc>
                <a:spcPct val="100000"/>
              </a:lnSpc>
              <a:spcBef>
                <a:spcPts val="0"/>
              </a:spcBef>
              <a:spcAft>
                <a:spcPts val="0"/>
              </a:spcAft>
            </a:pPr>
            <a:r>
              <a:rPr sz="950" b="0" i="0">
                <a:solidFill>
                  <a:srgbClr val="5F6A72"/>
                </a:solidFill>
                <a:latin typeface="Libre Franklin"/>
              </a:rPr>
              <a:t>no road, no signal: dark</a:t>
            </a:r>
          </a:p>
        </p:txBody>
      </p:sp>
      <p:sp>
        <p:nvSpPr>
          <p:cNvPr id="50" name="Rectangle 49"/>
          <p:cNvSpPr/>
          <p:nvPr/>
        </p:nvSpPr>
        <p:spPr>
          <a:xfrm>
            <a:off x="0" y="4114800"/>
            <a:ext cx="9144000" cy="10973"/>
          </a:xfrm>
          <a:prstGeom prst="rect">
            <a:avLst/>
          </a:prstGeom>
          <a:solidFill>
            <a:srgbClr val="DCE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384048" y="4261104"/>
            <a:ext cx="1828800" cy="182880"/>
          </a:xfrm>
          <a:prstGeom prst="rect">
            <a:avLst/>
          </a:prstGeom>
          <a:noFill/>
        </p:spPr>
        <p:txBody>
          <a:bodyPr wrap="square" lIns="0" rIns="0" tIns="0" bIns="0" anchor="t"/>
          <a:lstStyle/>
          <a:p>
            <a:pPr algn="l">
              <a:lnSpc>
                <a:spcPct val="100000"/>
              </a:lnSpc>
              <a:spcBef>
                <a:spcPts val="0"/>
              </a:spcBef>
              <a:spcAft>
                <a:spcPts val="0"/>
              </a:spcAft>
            </a:pPr>
            <a:r>
              <a:rPr sz="900" b="1" i="0" spc="70">
                <a:solidFill>
                  <a:srgbClr val="97A1A8"/>
                </a:solidFill>
                <a:latin typeface="Libre Franklin"/>
              </a:rPr>
              <a:t>TEAM NAME</a:t>
            </a:r>
          </a:p>
        </p:txBody>
      </p:sp>
      <p:sp>
        <p:nvSpPr>
          <p:cNvPr id="52" name="TextBox 51"/>
          <p:cNvSpPr txBox="1"/>
          <p:nvPr/>
        </p:nvSpPr>
        <p:spPr>
          <a:xfrm>
            <a:off x="384048" y="4471416"/>
            <a:ext cx="1828800" cy="256032"/>
          </a:xfrm>
          <a:prstGeom prst="rect">
            <a:avLst/>
          </a:prstGeom>
          <a:noFill/>
        </p:spPr>
        <p:txBody>
          <a:bodyPr wrap="square" lIns="0" rIns="0" tIns="0" bIns="0" anchor="t"/>
          <a:lstStyle/>
          <a:p>
            <a:pPr algn="l">
              <a:lnSpc>
                <a:spcPct val="100000"/>
              </a:lnSpc>
              <a:spcBef>
                <a:spcPts val="0"/>
              </a:spcBef>
              <a:spcAft>
                <a:spcPts val="0"/>
              </a:spcAft>
            </a:pPr>
            <a:r>
              <a:rPr sz="1250" b="1" i="0">
                <a:solidFill>
                  <a:srgbClr val="14181B"/>
                </a:solidFill>
                <a:latin typeface="Source Serif 4"/>
              </a:rPr>
              <a:t>mossad.exe</a:t>
            </a:r>
          </a:p>
        </p:txBody>
      </p:sp>
      <p:sp>
        <p:nvSpPr>
          <p:cNvPr id="53" name="TextBox 52"/>
          <p:cNvSpPr txBox="1"/>
          <p:nvPr/>
        </p:nvSpPr>
        <p:spPr>
          <a:xfrm>
            <a:off x="2377440" y="4261104"/>
            <a:ext cx="1554480" cy="182880"/>
          </a:xfrm>
          <a:prstGeom prst="rect">
            <a:avLst/>
          </a:prstGeom>
          <a:noFill/>
        </p:spPr>
        <p:txBody>
          <a:bodyPr wrap="square" lIns="0" rIns="0" tIns="0" bIns="0" anchor="t"/>
          <a:lstStyle/>
          <a:p>
            <a:pPr algn="l">
              <a:lnSpc>
                <a:spcPct val="100000"/>
              </a:lnSpc>
              <a:spcBef>
                <a:spcPts val="0"/>
              </a:spcBef>
              <a:spcAft>
                <a:spcPts val="0"/>
              </a:spcAft>
            </a:pPr>
            <a:r>
              <a:rPr sz="900" b="1" i="0" spc="70">
                <a:solidFill>
                  <a:srgbClr val="97A1A8"/>
                </a:solidFill>
                <a:latin typeface="Libre Franklin"/>
              </a:rPr>
              <a:t>TRACK</a:t>
            </a:r>
          </a:p>
        </p:txBody>
      </p:sp>
      <p:sp>
        <p:nvSpPr>
          <p:cNvPr id="54" name="TextBox 53"/>
          <p:cNvSpPr txBox="1"/>
          <p:nvPr/>
        </p:nvSpPr>
        <p:spPr>
          <a:xfrm>
            <a:off x="2377440" y="4471416"/>
            <a:ext cx="1554480" cy="256032"/>
          </a:xfrm>
          <a:prstGeom prst="rect">
            <a:avLst/>
          </a:prstGeom>
          <a:noFill/>
        </p:spPr>
        <p:txBody>
          <a:bodyPr wrap="square" lIns="0" rIns="0" tIns="0" bIns="0" anchor="t"/>
          <a:lstStyle/>
          <a:p>
            <a:pPr algn="l">
              <a:lnSpc>
                <a:spcPct val="100000"/>
              </a:lnSpc>
              <a:spcBef>
                <a:spcPts val="0"/>
              </a:spcBef>
              <a:spcAft>
                <a:spcPts val="0"/>
              </a:spcAft>
            </a:pPr>
            <a:r>
              <a:rPr sz="1250" b="1" i="0">
                <a:solidFill>
                  <a:srgbClr val="14181B"/>
                </a:solidFill>
                <a:latin typeface="Source Serif 4"/>
              </a:rPr>
              <a:t>[Track]</a:t>
            </a:r>
          </a:p>
        </p:txBody>
      </p:sp>
      <p:sp>
        <p:nvSpPr>
          <p:cNvPr id="55" name="Rectangle 54"/>
          <p:cNvSpPr/>
          <p:nvPr/>
        </p:nvSpPr>
        <p:spPr>
          <a:xfrm>
            <a:off x="2221992" y="4261104"/>
            <a:ext cx="7315" cy="438912"/>
          </a:xfrm>
          <a:prstGeom prst="rect">
            <a:avLst/>
          </a:prstGeom>
          <a:solidFill>
            <a:srgbClr val="DCE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4096512" y="4261104"/>
            <a:ext cx="3108960" cy="182880"/>
          </a:xfrm>
          <a:prstGeom prst="rect">
            <a:avLst/>
          </a:prstGeom>
          <a:noFill/>
        </p:spPr>
        <p:txBody>
          <a:bodyPr wrap="square" lIns="0" rIns="0" tIns="0" bIns="0" anchor="t"/>
          <a:lstStyle/>
          <a:p>
            <a:pPr algn="l">
              <a:lnSpc>
                <a:spcPct val="100000"/>
              </a:lnSpc>
              <a:spcBef>
                <a:spcPts val="0"/>
              </a:spcBef>
              <a:spcAft>
                <a:spcPts val="0"/>
              </a:spcAft>
            </a:pPr>
            <a:r>
              <a:rPr sz="900" b="1" i="0" spc="70">
                <a:solidFill>
                  <a:srgbClr val="97A1A8"/>
                </a:solidFill>
                <a:latin typeface="Libre Franklin"/>
              </a:rPr>
              <a:t>PROBLEM STATEMENT</a:t>
            </a:r>
          </a:p>
        </p:txBody>
      </p:sp>
      <p:sp>
        <p:nvSpPr>
          <p:cNvPr id="57" name="TextBox 56"/>
          <p:cNvSpPr txBox="1"/>
          <p:nvPr/>
        </p:nvSpPr>
        <p:spPr>
          <a:xfrm>
            <a:off x="4096512" y="4471416"/>
            <a:ext cx="3108960" cy="256032"/>
          </a:xfrm>
          <a:prstGeom prst="rect">
            <a:avLst/>
          </a:prstGeom>
          <a:noFill/>
        </p:spPr>
        <p:txBody>
          <a:bodyPr wrap="square" lIns="0" rIns="0" tIns="0" bIns="0" anchor="t"/>
          <a:lstStyle/>
          <a:p>
            <a:pPr algn="l">
              <a:lnSpc>
                <a:spcPct val="100000"/>
              </a:lnSpc>
              <a:spcBef>
                <a:spcPts val="0"/>
              </a:spcBef>
              <a:spcAft>
                <a:spcPts val="0"/>
              </a:spcAft>
            </a:pPr>
            <a:r>
              <a:rPr sz="1250" b="1" i="0">
                <a:solidFill>
                  <a:srgbClr val="14181B"/>
                </a:solidFill>
                <a:latin typeface="Source Serif 4"/>
              </a:rPr>
              <a:t>P05 · Cascading Failure</a:t>
            </a:r>
          </a:p>
        </p:txBody>
      </p:sp>
      <p:sp>
        <p:nvSpPr>
          <p:cNvPr id="58" name="Rectangle 57"/>
          <p:cNvSpPr/>
          <p:nvPr/>
        </p:nvSpPr>
        <p:spPr>
          <a:xfrm>
            <a:off x="3941064" y="4261104"/>
            <a:ext cx="7315" cy="438912"/>
          </a:xfrm>
          <a:prstGeom prst="rect">
            <a:avLst/>
          </a:prstGeom>
          <a:solidFill>
            <a:srgbClr val="DCE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7351776" y="4261104"/>
            <a:ext cx="1408176" cy="182880"/>
          </a:xfrm>
          <a:prstGeom prst="rect">
            <a:avLst/>
          </a:prstGeom>
          <a:noFill/>
        </p:spPr>
        <p:txBody>
          <a:bodyPr wrap="square" lIns="0" rIns="0" tIns="0" bIns="0" anchor="t"/>
          <a:lstStyle/>
          <a:p>
            <a:pPr algn="l">
              <a:lnSpc>
                <a:spcPct val="100000"/>
              </a:lnSpc>
              <a:spcBef>
                <a:spcPts val="0"/>
              </a:spcBef>
              <a:spcAft>
                <a:spcPts val="0"/>
              </a:spcAft>
            </a:pPr>
            <a:r>
              <a:rPr sz="900" b="1" i="0" spc="70">
                <a:solidFill>
                  <a:srgbClr val="97A1A8"/>
                </a:solidFill>
                <a:latin typeface="Libre Franklin"/>
              </a:rPr>
              <a:t>SOLUTION TITLE</a:t>
            </a:r>
          </a:p>
        </p:txBody>
      </p:sp>
      <p:sp>
        <p:nvSpPr>
          <p:cNvPr id="60" name="TextBox 59"/>
          <p:cNvSpPr txBox="1"/>
          <p:nvPr/>
        </p:nvSpPr>
        <p:spPr>
          <a:xfrm>
            <a:off x="7351776" y="4471416"/>
            <a:ext cx="1408176" cy="256032"/>
          </a:xfrm>
          <a:prstGeom prst="rect">
            <a:avLst/>
          </a:prstGeom>
          <a:noFill/>
        </p:spPr>
        <p:txBody>
          <a:bodyPr wrap="square" lIns="0" rIns="0" tIns="0" bIns="0" anchor="t"/>
          <a:lstStyle/>
          <a:p>
            <a:pPr algn="l">
              <a:lnSpc>
                <a:spcPct val="100000"/>
              </a:lnSpc>
              <a:spcBef>
                <a:spcPts val="0"/>
              </a:spcBef>
              <a:spcAft>
                <a:spcPts val="0"/>
              </a:spcAft>
            </a:pPr>
            <a:r>
              <a:rPr sz="1250" b="1" i="0">
                <a:solidFill>
                  <a:srgbClr val="14181B"/>
                </a:solidFill>
                <a:latin typeface="Source Serif 4"/>
              </a:rPr>
              <a:t>DOMINO</a:t>
            </a:r>
          </a:p>
        </p:txBody>
      </p:sp>
      <p:sp>
        <p:nvSpPr>
          <p:cNvPr id="61" name="Rectangle 60"/>
          <p:cNvSpPr/>
          <p:nvPr/>
        </p:nvSpPr>
        <p:spPr>
          <a:xfrm>
            <a:off x="7196328" y="4261104"/>
            <a:ext cx="7315" cy="438912"/>
          </a:xfrm>
          <a:prstGeom prst="rect">
            <a:avLst/>
          </a:prstGeom>
          <a:solidFill>
            <a:srgbClr val="DCE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384048" y="4828032"/>
            <a:ext cx="1280160" cy="182880"/>
          </a:xfrm>
          <a:prstGeom prst="rect">
            <a:avLst/>
          </a:prstGeom>
          <a:noFill/>
        </p:spPr>
        <p:txBody>
          <a:bodyPr wrap="square" lIns="0" rIns="0" tIns="0" bIns="0" anchor="t"/>
          <a:lstStyle/>
          <a:p>
            <a:pPr algn="l">
              <a:lnSpc>
                <a:spcPct val="100000"/>
              </a:lnSpc>
              <a:spcBef>
                <a:spcPts val="0"/>
              </a:spcBef>
              <a:spcAft>
                <a:spcPts val="0"/>
              </a:spcAft>
            </a:pPr>
            <a:r>
              <a:rPr sz="900" b="1" i="0" spc="70">
                <a:solidFill>
                  <a:srgbClr val="97A1A8"/>
                </a:solidFill>
                <a:latin typeface="Libre Franklin"/>
              </a:rPr>
              <a:t>TEAM MEMBERS</a:t>
            </a:r>
          </a:p>
        </p:txBody>
      </p:sp>
      <p:sp>
        <p:nvSpPr>
          <p:cNvPr id="63" name="TextBox 62"/>
          <p:cNvSpPr txBox="1"/>
          <p:nvPr/>
        </p:nvSpPr>
        <p:spPr>
          <a:xfrm>
            <a:off x="1609344" y="4823460"/>
            <a:ext cx="7223760" cy="201168"/>
          </a:xfrm>
          <a:prstGeom prst="rect">
            <a:avLst/>
          </a:prstGeom>
          <a:noFill/>
        </p:spPr>
        <p:txBody>
          <a:bodyPr wrap="square" lIns="0" rIns="0" tIns="0" bIns="0" anchor="t"/>
          <a:lstStyle/>
          <a:p>
            <a:pPr algn="l">
              <a:lnSpc>
                <a:spcPct val="100000"/>
              </a:lnSpc>
              <a:spcBef>
                <a:spcPts val="0"/>
              </a:spcBef>
              <a:spcAft>
                <a:spcPts val="0"/>
              </a:spcAft>
            </a:pPr>
            <a:r>
              <a:rPr sz="1000" b="0" i="0">
                <a:solidFill>
                  <a:srgbClr val="44505A"/>
                </a:solidFill>
                <a:latin typeface="Libre Franklin"/>
              </a:rPr>
              <a:t>[Member 1]   ·   [Member 2]   ·   [Member 3]   ·   [Member 4]   ·   [Member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9144000" cy="73152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31520"/>
            <a:ext cx="9144000" cy="12802"/>
          </a:xfrm>
          <a:prstGeom prst="rect">
            <a:avLst/>
          </a:prstGeom>
          <a:solidFill>
            <a:srgbClr val="DCE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731520"/>
            <a:ext cx="1481328" cy="12802"/>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384048" y="224028"/>
            <a:ext cx="54864" cy="288036"/>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48640" y="205740"/>
            <a:ext cx="2103120" cy="256032"/>
          </a:xfrm>
          <a:prstGeom prst="rect">
            <a:avLst/>
          </a:prstGeom>
          <a:noFill/>
        </p:spPr>
        <p:txBody>
          <a:bodyPr wrap="square" lIns="0" rIns="0" tIns="0" bIns="0" anchor="t"/>
          <a:lstStyle/>
          <a:p>
            <a:pPr algn="l">
              <a:lnSpc>
                <a:spcPct val="100000"/>
              </a:lnSpc>
              <a:spcBef>
                <a:spcPts val="0"/>
              </a:spcBef>
              <a:spcAft>
                <a:spcPts val="0"/>
              </a:spcAft>
            </a:pPr>
            <a:r>
              <a:rPr sz="1700" b="1" i="0" spc="120">
                <a:solidFill>
                  <a:srgbClr val="14181B"/>
                </a:solidFill>
                <a:latin typeface="Source Serif 4"/>
              </a:rPr>
              <a:t>DOMINO</a:t>
            </a:r>
          </a:p>
        </p:txBody>
      </p:sp>
      <p:sp>
        <p:nvSpPr>
          <p:cNvPr id="8" name="Rectangle 7"/>
          <p:cNvSpPr/>
          <p:nvPr/>
        </p:nvSpPr>
        <p:spPr>
          <a:xfrm>
            <a:off x="2148840" y="182880"/>
            <a:ext cx="7315" cy="365760"/>
          </a:xfrm>
          <a:prstGeom prst="rect">
            <a:avLst/>
          </a:prstGeom>
          <a:solidFill>
            <a:srgbClr val="BCC5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2377440" y="214884"/>
            <a:ext cx="5715000" cy="310896"/>
          </a:xfrm>
          <a:prstGeom prst="rect">
            <a:avLst/>
          </a:prstGeom>
          <a:noFill/>
        </p:spPr>
        <p:txBody>
          <a:bodyPr wrap="square" lIns="0" rIns="0" tIns="0" bIns="0" anchor="t"/>
          <a:lstStyle/>
          <a:p>
            <a:pPr algn="l">
              <a:lnSpc>
                <a:spcPct val="100000"/>
              </a:lnSpc>
              <a:spcBef>
                <a:spcPts val="0"/>
              </a:spcBef>
              <a:spcAft>
                <a:spcPts val="0"/>
              </a:spcAft>
            </a:pPr>
            <a:r>
              <a:rPr sz="1900" b="1" i="0" spc="-20">
                <a:solidFill>
                  <a:srgbClr val="14181B"/>
                </a:solidFill>
                <a:latin typeface="Source Serif 4"/>
              </a:rPr>
              <a:t>Solution</a:t>
            </a:r>
          </a:p>
        </p:txBody>
      </p:sp>
      <p:pic>
        <p:nvPicPr>
          <p:cNvPr id="10" name="Picture 9" descr="logo_m26.png"/>
          <p:cNvPicPr>
            <a:picLocks noChangeAspect="1"/>
          </p:cNvPicPr>
          <p:nvPr/>
        </p:nvPicPr>
        <p:blipFill>
          <a:blip r:embed="rId2"/>
          <a:stretch>
            <a:fillRect/>
          </a:stretch>
        </p:blipFill>
        <p:spPr>
          <a:xfrm>
            <a:off x="8250689" y="91440"/>
            <a:ext cx="640080" cy="475453"/>
          </a:xfrm>
          <a:prstGeom prst="rect">
            <a:avLst/>
          </a:prstGeom>
        </p:spPr>
      </p:pic>
      <p:sp>
        <p:nvSpPr>
          <p:cNvPr id="11" name="Rectangle 10"/>
          <p:cNvSpPr/>
          <p:nvPr/>
        </p:nvSpPr>
        <p:spPr>
          <a:xfrm>
            <a:off x="384048" y="841248"/>
            <a:ext cx="2615184" cy="420624"/>
          </a:xfrm>
          <a:prstGeom prst="rect">
            <a:avLst/>
          </a:prstGeom>
          <a:solidFill>
            <a:srgbClr val="FAFBFC">
              <a:alpha val="100000"/>
            </a:srgbClr>
          </a:solidFill>
          <a:ln w="11430">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30352" y="928116"/>
            <a:ext cx="731520" cy="182880"/>
          </a:xfrm>
          <a:prstGeom prst="rect">
            <a:avLst/>
          </a:prstGeom>
          <a:noFill/>
        </p:spPr>
        <p:txBody>
          <a:bodyPr wrap="square" lIns="0" rIns="0" tIns="0" bIns="0" anchor="t"/>
          <a:lstStyle/>
          <a:p>
            <a:pPr algn="l">
              <a:lnSpc>
                <a:spcPct val="100000"/>
              </a:lnSpc>
              <a:spcBef>
                <a:spcPts val="0"/>
              </a:spcBef>
              <a:spcAft>
                <a:spcPts val="0"/>
              </a:spcAft>
            </a:pPr>
            <a:r>
              <a:rPr sz="900" b="1" i="0" spc="80">
                <a:solidFill>
                  <a:srgbClr val="97A1A8"/>
                </a:solidFill>
                <a:latin typeface="Libre Franklin"/>
              </a:rPr>
              <a:t>TODAY</a:t>
            </a:r>
          </a:p>
        </p:txBody>
      </p:sp>
      <p:sp>
        <p:nvSpPr>
          <p:cNvPr id="13" name="TextBox 12"/>
          <p:cNvSpPr txBox="1"/>
          <p:nvPr/>
        </p:nvSpPr>
        <p:spPr>
          <a:xfrm>
            <a:off x="1225296" y="909828"/>
            <a:ext cx="1700784" cy="219456"/>
          </a:xfrm>
          <a:prstGeom prst="rect">
            <a:avLst/>
          </a:prstGeom>
          <a:noFill/>
        </p:spPr>
        <p:txBody>
          <a:bodyPr wrap="square" lIns="0" rIns="0" tIns="0" bIns="0" anchor="t"/>
          <a:lstStyle/>
          <a:p>
            <a:pPr algn="l">
              <a:lnSpc>
                <a:spcPct val="100000"/>
              </a:lnSpc>
              <a:spcBef>
                <a:spcPts val="0"/>
              </a:spcBef>
              <a:spcAft>
                <a:spcPts val="0"/>
              </a:spcAft>
            </a:pPr>
            <a:r>
              <a:rPr sz="1200" b="1" i="0">
                <a:solidFill>
                  <a:srgbClr val="5F6A72"/>
                </a:solidFill>
                <a:latin typeface="Source Serif 4"/>
              </a:rPr>
              <a:t>What gets affected?</a:t>
            </a:r>
          </a:p>
        </p:txBody>
      </p:sp>
      <p:pic>
        <p:nvPicPr>
          <p:cNvPr id="14" name="Picture 13" descr="arrowr_ee23c4cee2d2.png"/>
          <p:cNvPicPr>
            <a:picLocks noChangeAspect="1"/>
          </p:cNvPicPr>
          <p:nvPr/>
        </p:nvPicPr>
        <p:blipFill>
          <a:blip r:embed="rId3"/>
          <a:stretch>
            <a:fillRect/>
          </a:stretch>
        </p:blipFill>
        <p:spPr>
          <a:xfrm>
            <a:off x="3108960" y="914400"/>
            <a:ext cx="256032" cy="256032"/>
          </a:xfrm>
          <a:prstGeom prst="rect">
            <a:avLst/>
          </a:prstGeom>
        </p:spPr>
      </p:pic>
      <p:sp>
        <p:nvSpPr>
          <p:cNvPr id="15" name="Rectangle 14"/>
          <p:cNvSpPr/>
          <p:nvPr/>
        </p:nvSpPr>
        <p:spPr>
          <a:xfrm>
            <a:off x="3474720" y="841248"/>
            <a:ext cx="5285232" cy="420624"/>
          </a:xfrm>
          <a:prstGeom prst="rect">
            <a:avLst/>
          </a:prstGeom>
          <a:solidFill>
            <a:srgbClr val="BF5B12">
              <a:alpha val="11000"/>
            </a:srgbClr>
          </a:solidFill>
          <a:ln w="15240">
            <a:solidFill>
              <a:srgbClr val="BF5B12">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3474720" y="841248"/>
            <a:ext cx="45720" cy="420624"/>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639312" y="928116"/>
            <a:ext cx="914400" cy="182880"/>
          </a:xfrm>
          <a:prstGeom prst="rect">
            <a:avLst/>
          </a:prstGeom>
          <a:noFill/>
        </p:spPr>
        <p:txBody>
          <a:bodyPr wrap="square" lIns="0" rIns="0" tIns="0" bIns="0" anchor="t"/>
          <a:lstStyle/>
          <a:p>
            <a:pPr algn="l">
              <a:lnSpc>
                <a:spcPct val="100000"/>
              </a:lnSpc>
              <a:spcBef>
                <a:spcPts val="0"/>
              </a:spcBef>
              <a:spcAft>
                <a:spcPts val="0"/>
              </a:spcAft>
            </a:pPr>
            <a:r>
              <a:rPr sz="900" b="1" i="0" spc="80">
                <a:solidFill>
                  <a:srgbClr val="BF5B12"/>
                </a:solidFill>
                <a:latin typeface="Libre Franklin"/>
              </a:rPr>
              <a:t>DOMINO</a:t>
            </a:r>
          </a:p>
        </p:txBody>
      </p:sp>
      <p:sp>
        <p:nvSpPr>
          <p:cNvPr id="18" name="TextBox 17"/>
          <p:cNvSpPr txBox="1"/>
          <p:nvPr/>
        </p:nvSpPr>
        <p:spPr>
          <a:xfrm>
            <a:off x="4480560" y="909828"/>
            <a:ext cx="4187952" cy="219456"/>
          </a:xfrm>
          <a:prstGeom prst="rect">
            <a:avLst/>
          </a:prstGeom>
          <a:noFill/>
        </p:spPr>
        <p:txBody>
          <a:bodyPr wrap="square" lIns="0" rIns="0" tIns="0" bIns="0" anchor="t"/>
          <a:lstStyle/>
          <a:p>
            <a:pPr algn="l">
              <a:lnSpc>
                <a:spcPct val="100000"/>
              </a:lnSpc>
              <a:spcBef>
                <a:spcPts val="0"/>
              </a:spcBef>
              <a:spcAft>
                <a:spcPts val="0"/>
              </a:spcAft>
            </a:pPr>
            <a:r>
              <a:rPr sz="1200" b="1" i="0">
                <a:solidFill>
                  <a:srgbClr val="14181B"/>
                </a:solidFill>
                <a:latin typeface="Source Serif 4"/>
              </a:rPr>
              <a:t>Where can we intervene before the cascade grows?</a:t>
            </a:r>
          </a:p>
        </p:txBody>
      </p:sp>
      <p:sp>
        <p:nvSpPr>
          <p:cNvPr id="19" name="TextBox 18"/>
          <p:cNvSpPr txBox="1"/>
          <p:nvPr/>
        </p:nvSpPr>
        <p:spPr>
          <a:xfrm>
            <a:off x="384048" y="1371600"/>
            <a:ext cx="5486400" cy="201168"/>
          </a:xfrm>
          <a:prstGeom prst="rect">
            <a:avLst/>
          </a:prstGeom>
          <a:noFill/>
        </p:spPr>
        <p:txBody>
          <a:bodyPr wrap="square" lIns="0" rIns="0" tIns="0" bIns="0" anchor="t"/>
          <a:lstStyle/>
          <a:p>
            <a:pPr algn="l">
              <a:lnSpc>
                <a:spcPct val="100000"/>
              </a:lnSpc>
              <a:spcBef>
                <a:spcPts val="0"/>
              </a:spcBef>
              <a:spcAft>
                <a:spcPts val="0"/>
              </a:spcAft>
            </a:pPr>
            <a:r>
              <a:rPr sz="950" b="1" i="0" spc="80">
                <a:solidFill>
                  <a:srgbClr val="5F6A72"/>
                </a:solidFill>
                <a:latin typeface="Libre Franklin"/>
              </a:rPr>
              <a:t>ONE FAILURE, WALKED THROUGH BY OUR ENGINE</a:t>
            </a:r>
          </a:p>
        </p:txBody>
      </p:sp>
      <p:sp>
        <p:nvSpPr>
          <p:cNvPr id="20" name="Rectangle 19"/>
          <p:cNvSpPr/>
          <p:nvPr/>
        </p:nvSpPr>
        <p:spPr>
          <a:xfrm>
            <a:off x="384048" y="1591056"/>
            <a:ext cx="2004822" cy="1463040"/>
          </a:xfrm>
          <a:prstGeom prst="rect">
            <a:avLst/>
          </a:prstGeom>
          <a:solidFill>
            <a:srgbClr val="FAFBFC">
              <a:alpha val="100000"/>
            </a:srgbClr>
          </a:solidFill>
          <a:ln w="9525">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84048" y="1591056"/>
            <a:ext cx="45720" cy="1463040"/>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530352" y="1700784"/>
            <a:ext cx="201168" cy="201168"/>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30352" y="1723644"/>
            <a:ext cx="201168" cy="164592"/>
          </a:xfrm>
          <a:prstGeom prst="rect">
            <a:avLst/>
          </a:prstGeom>
          <a:noFill/>
        </p:spPr>
        <p:txBody>
          <a:bodyPr wrap="square" lIns="0" rIns="0" tIns="0" bIns="0" anchor="t"/>
          <a:lstStyle/>
          <a:p>
            <a:pPr algn="ctr">
              <a:lnSpc>
                <a:spcPct val="100000"/>
              </a:lnSpc>
              <a:spcBef>
                <a:spcPts val="0"/>
              </a:spcBef>
              <a:spcAft>
                <a:spcPts val="0"/>
              </a:spcAft>
            </a:pPr>
            <a:r>
              <a:rPr sz="950" b="1" i="0">
                <a:solidFill>
                  <a:srgbClr val="FFFFFF"/>
                </a:solidFill>
                <a:latin typeface="Libre Franklin"/>
              </a:rPr>
              <a:t>1</a:t>
            </a:r>
          </a:p>
        </p:txBody>
      </p:sp>
      <p:sp>
        <p:nvSpPr>
          <p:cNvPr id="24" name="TextBox 23"/>
          <p:cNvSpPr txBox="1"/>
          <p:nvPr/>
        </p:nvSpPr>
        <p:spPr>
          <a:xfrm>
            <a:off x="804672" y="1705356"/>
            <a:ext cx="1456182" cy="219456"/>
          </a:xfrm>
          <a:prstGeom prst="rect">
            <a:avLst/>
          </a:prstGeom>
          <a:noFill/>
        </p:spPr>
        <p:txBody>
          <a:bodyPr wrap="square" lIns="0" rIns="0" tIns="0" bIns="0" anchor="t"/>
          <a:lstStyle/>
          <a:p>
            <a:pPr algn="l">
              <a:lnSpc>
                <a:spcPct val="100000"/>
              </a:lnSpc>
              <a:spcBef>
                <a:spcPts val="0"/>
              </a:spcBef>
              <a:spcAft>
                <a:spcPts val="0"/>
              </a:spcAft>
            </a:pPr>
            <a:r>
              <a:rPr sz="1150" b="1" i="0">
                <a:solidFill>
                  <a:srgbClr val="14181B"/>
                </a:solidFill>
                <a:latin typeface="Source Serif 4"/>
              </a:rPr>
              <a:t>Bridge B07 fails</a:t>
            </a:r>
          </a:p>
        </p:txBody>
      </p:sp>
      <p:sp>
        <p:nvSpPr>
          <p:cNvPr id="25" name="TextBox 24"/>
          <p:cNvSpPr txBox="1"/>
          <p:nvPr/>
        </p:nvSpPr>
        <p:spPr>
          <a:xfrm>
            <a:off x="530352" y="2011680"/>
            <a:ext cx="1712214" cy="694944"/>
          </a:xfrm>
          <a:prstGeom prst="rect">
            <a:avLst/>
          </a:prstGeom>
          <a:noFill/>
        </p:spPr>
        <p:txBody>
          <a:bodyPr wrap="square" lIns="0" rIns="0" tIns="0" bIns="0" anchor="t"/>
          <a:lstStyle/>
          <a:p>
            <a:pPr algn="l">
              <a:lnSpc>
                <a:spcPct val="118000"/>
              </a:lnSpc>
              <a:spcBef>
                <a:spcPts val="0"/>
              </a:spcBef>
              <a:spcAft>
                <a:spcPts val="0"/>
              </a:spcAft>
            </a:pPr>
            <a:r>
              <a:rPr sz="950" b="0" i="0">
                <a:solidFill>
                  <a:srgbClr val="44505A"/>
                </a:solidFill>
                <a:latin typeface="Libre Franklin"/>
              </a:rPr>
              <a:t>89% can still reach a hospital or fire station. On an ordinary damage map nothing looks wrong.</a:t>
            </a:r>
          </a:p>
        </p:txBody>
      </p:sp>
      <p:sp>
        <p:nvSpPr>
          <p:cNvPr id="26" name="Rectangle 25"/>
          <p:cNvSpPr/>
          <p:nvPr/>
        </p:nvSpPr>
        <p:spPr>
          <a:xfrm>
            <a:off x="530352" y="2761488"/>
            <a:ext cx="1712214" cy="201168"/>
          </a:xfrm>
          <a:prstGeom prst="rect">
            <a:avLst/>
          </a:prstGeom>
          <a:solidFill>
            <a:srgbClr val="5F6A72">
              <a:alpha val="12000"/>
            </a:srgbClr>
          </a:solidFill>
          <a:ln w="12700">
            <a:solidFill>
              <a:srgbClr val="5F6A72">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30352" y="2761488"/>
            <a:ext cx="1712214" cy="201168"/>
          </a:xfrm>
          <a:prstGeom prst="rect">
            <a:avLst/>
          </a:prstGeom>
          <a:noFill/>
        </p:spPr>
        <p:txBody>
          <a:bodyPr wrap="square" lIns="0" rIns="0" tIns="0" bIns="0" anchor="ctr"/>
          <a:lstStyle/>
          <a:p>
            <a:pPr algn="ctr">
              <a:lnSpc>
                <a:spcPct val="100000"/>
              </a:lnSpc>
              <a:spcBef>
                <a:spcPts val="0"/>
              </a:spcBef>
              <a:spcAft>
                <a:spcPts val="0"/>
              </a:spcAft>
            </a:pPr>
            <a:r>
              <a:rPr sz="850" b="1" i="0" spc="60">
                <a:solidFill>
                  <a:srgbClr val="5F6A72"/>
                </a:solidFill>
                <a:latin typeface="Libre Franklin"/>
              </a:rPr>
              <a:t>NOTHING VISIBLE YET</a:t>
            </a:r>
          </a:p>
        </p:txBody>
      </p:sp>
      <p:pic>
        <p:nvPicPr>
          <p:cNvPr id="28" name="Picture 27" descr="arrowr_a1bbd38ba550.png"/>
          <p:cNvPicPr>
            <a:picLocks noChangeAspect="1"/>
          </p:cNvPicPr>
          <p:nvPr/>
        </p:nvPicPr>
        <p:blipFill>
          <a:blip r:embed="rId4"/>
          <a:stretch>
            <a:fillRect/>
          </a:stretch>
        </p:blipFill>
        <p:spPr>
          <a:xfrm>
            <a:off x="2393442" y="2212848"/>
            <a:ext cx="109728" cy="109728"/>
          </a:xfrm>
          <a:prstGeom prst="rect">
            <a:avLst/>
          </a:prstGeom>
        </p:spPr>
      </p:pic>
      <p:sp>
        <p:nvSpPr>
          <p:cNvPr id="29" name="Rectangle 28"/>
          <p:cNvSpPr/>
          <p:nvPr/>
        </p:nvSpPr>
        <p:spPr>
          <a:xfrm>
            <a:off x="2507742" y="1591056"/>
            <a:ext cx="2004822" cy="1463040"/>
          </a:xfrm>
          <a:prstGeom prst="rect">
            <a:avLst/>
          </a:prstGeom>
          <a:solidFill>
            <a:srgbClr val="FAFBFC">
              <a:alpha val="100000"/>
            </a:srgbClr>
          </a:solidFill>
          <a:ln w="9525">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507742" y="1591056"/>
            <a:ext cx="45720" cy="14630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654046" y="1700784"/>
            <a:ext cx="201168" cy="20116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654046" y="1723644"/>
            <a:ext cx="201168" cy="164592"/>
          </a:xfrm>
          <a:prstGeom prst="rect">
            <a:avLst/>
          </a:prstGeom>
          <a:noFill/>
        </p:spPr>
        <p:txBody>
          <a:bodyPr wrap="square" lIns="0" rIns="0" tIns="0" bIns="0" anchor="t"/>
          <a:lstStyle/>
          <a:p>
            <a:pPr algn="ctr">
              <a:lnSpc>
                <a:spcPct val="100000"/>
              </a:lnSpc>
              <a:spcBef>
                <a:spcPts val="0"/>
              </a:spcBef>
              <a:spcAft>
                <a:spcPts val="0"/>
              </a:spcAft>
            </a:pPr>
            <a:r>
              <a:rPr sz="950" b="1" i="0">
                <a:solidFill>
                  <a:srgbClr val="FFFFFF"/>
                </a:solidFill>
                <a:latin typeface="Libre Franklin"/>
              </a:rPr>
              <a:t>2</a:t>
            </a:r>
          </a:p>
        </p:txBody>
      </p:sp>
      <p:sp>
        <p:nvSpPr>
          <p:cNvPr id="33" name="TextBox 32"/>
          <p:cNvSpPr txBox="1"/>
          <p:nvPr/>
        </p:nvSpPr>
        <p:spPr>
          <a:xfrm>
            <a:off x="2928366" y="1705356"/>
            <a:ext cx="1456182" cy="219456"/>
          </a:xfrm>
          <a:prstGeom prst="rect">
            <a:avLst/>
          </a:prstGeom>
          <a:noFill/>
        </p:spPr>
        <p:txBody>
          <a:bodyPr wrap="square" lIns="0" rIns="0" tIns="0" bIns="0" anchor="t"/>
          <a:lstStyle/>
          <a:p>
            <a:pPr algn="l">
              <a:lnSpc>
                <a:spcPct val="100000"/>
              </a:lnSpc>
              <a:spcBef>
                <a:spcPts val="0"/>
              </a:spcBef>
              <a:spcAft>
                <a:spcPts val="0"/>
              </a:spcAft>
            </a:pPr>
            <a:r>
              <a:rPr sz="1150" b="1" i="0">
                <a:solidFill>
                  <a:srgbClr val="14181B"/>
                </a:solidFill>
                <a:latin typeface="Source Serif 4"/>
              </a:rPr>
              <a:t>Traffic reroutes</a:t>
            </a:r>
          </a:p>
        </p:txBody>
      </p:sp>
      <p:sp>
        <p:nvSpPr>
          <p:cNvPr id="34" name="TextBox 33"/>
          <p:cNvSpPr txBox="1"/>
          <p:nvPr/>
        </p:nvSpPr>
        <p:spPr>
          <a:xfrm>
            <a:off x="2654046" y="2011680"/>
            <a:ext cx="1712214" cy="694944"/>
          </a:xfrm>
          <a:prstGeom prst="rect">
            <a:avLst/>
          </a:prstGeom>
          <a:noFill/>
        </p:spPr>
        <p:txBody>
          <a:bodyPr wrap="square" lIns="0" rIns="0" tIns="0" bIns="0" anchor="t"/>
          <a:lstStyle/>
          <a:p>
            <a:pPr algn="l">
              <a:lnSpc>
                <a:spcPct val="118000"/>
              </a:lnSpc>
              <a:spcBef>
                <a:spcPts val="0"/>
              </a:spcBef>
              <a:spcAft>
                <a:spcPts val="0"/>
              </a:spcAft>
            </a:pPr>
            <a:r>
              <a:rPr sz="950" b="0" i="0">
                <a:solidFill>
                  <a:srgbClr val="44505A"/>
                </a:solidFill>
                <a:latin typeface="Libre Franklin"/>
              </a:rPr>
              <a:t>Coastal road N2 is suddenly at 1.3× the traffic it was built for. That is the next domino.</a:t>
            </a:r>
          </a:p>
        </p:txBody>
      </p:sp>
      <p:sp>
        <p:nvSpPr>
          <p:cNvPr id="35" name="Rectangle 34"/>
          <p:cNvSpPr/>
          <p:nvPr/>
        </p:nvSpPr>
        <p:spPr>
          <a:xfrm>
            <a:off x="2654046" y="2761488"/>
            <a:ext cx="1712214" cy="201168"/>
          </a:xfrm>
          <a:prstGeom prst="rect">
            <a:avLst/>
          </a:prstGeom>
          <a:solidFill>
            <a:srgbClr val="C62828">
              <a:alpha val="12000"/>
            </a:srgbClr>
          </a:solidFill>
          <a:ln w="12700">
            <a:solidFill>
              <a:srgbClr val="C62828">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654046" y="2761488"/>
            <a:ext cx="1712214" cy="201168"/>
          </a:xfrm>
          <a:prstGeom prst="rect">
            <a:avLst/>
          </a:prstGeom>
          <a:noFill/>
        </p:spPr>
        <p:txBody>
          <a:bodyPr wrap="square" lIns="0" rIns="0" tIns="0" bIns="0" anchor="ctr"/>
          <a:lstStyle/>
          <a:p>
            <a:pPr algn="ctr">
              <a:lnSpc>
                <a:spcPct val="100000"/>
              </a:lnSpc>
              <a:spcBef>
                <a:spcPts val="0"/>
              </a:spcBef>
              <a:spcAft>
                <a:spcPts val="0"/>
              </a:spcAft>
            </a:pPr>
            <a:r>
              <a:rPr sz="850" b="1" i="0" spc="60">
                <a:solidFill>
                  <a:srgbClr val="C62828"/>
                </a:solidFill>
                <a:latin typeface="Libre Franklin"/>
              </a:rPr>
              <a:t>DOMINO FOUND</a:t>
            </a:r>
          </a:p>
        </p:txBody>
      </p:sp>
      <p:pic>
        <p:nvPicPr>
          <p:cNvPr id="37" name="Picture 36" descr="arrowr_a1bbd38ba550.png"/>
          <p:cNvPicPr>
            <a:picLocks noChangeAspect="1"/>
          </p:cNvPicPr>
          <p:nvPr/>
        </p:nvPicPr>
        <p:blipFill>
          <a:blip r:embed="rId4"/>
          <a:stretch>
            <a:fillRect/>
          </a:stretch>
        </p:blipFill>
        <p:spPr>
          <a:xfrm>
            <a:off x="4517136" y="2212848"/>
            <a:ext cx="109728" cy="109728"/>
          </a:xfrm>
          <a:prstGeom prst="rect">
            <a:avLst/>
          </a:prstGeom>
        </p:spPr>
      </p:pic>
      <p:sp>
        <p:nvSpPr>
          <p:cNvPr id="38" name="Rectangle 37"/>
          <p:cNvSpPr/>
          <p:nvPr/>
        </p:nvSpPr>
        <p:spPr>
          <a:xfrm>
            <a:off x="4631436" y="1591056"/>
            <a:ext cx="2004822" cy="1463040"/>
          </a:xfrm>
          <a:prstGeom prst="rect">
            <a:avLst/>
          </a:prstGeom>
          <a:solidFill>
            <a:srgbClr val="FAFBFC">
              <a:alpha val="100000"/>
            </a:srgbClr>
          </a:solidFill>
          <a:ln w="9525">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4631436" y="1591056"/>
            <a:ext cx="45720" cy="1463040"/>
          </a:xfrm>
          <a:prstGeom prst="rect">
            <a:avLst/>
          </a:prstGeom>
          <a:solidFill>
            <a:srgbClr val="0079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4777740" y="1700784"/>
            <a:ext cx="201168" cy="201168"/>
          </a:xfrm>
          <a:prstGeom prst="rect">
            <a:avLst/>
          </a:prstGeom>
          <a:solidFill>
            <a:srgbClr val="0079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777740" y="1723644"/>
            <a:ext cx="201168" cy="164592"/>
          </a:xfrm>
          <a:prstGeom prst="rect">
            <a:avLst/>
          </a:prstGeom>
          <a:noFill/>
        </p:spPr>
        <p:txBody>
          <a:bodyPr wrap="square" lIns="0" rIns="0" tIns="0" bIns="0" anchor="t"/>
          <a:lstStyle/>
          <a:p>
            <a:pPr algn="ctr">
              <a:lnSpc>
                <a:spcPct val="100000"/>
              </a:lnSpc>
              <a:spcBef>
                <a:spcPts val="0"/>
              </a:spcBef>
              <a:spcAft>
                <a:spcPts val="0"/>
              </a:spcAft>
            </a:pPr>
            <a:r>
              <a:rPr sz="950" b="1" i="0">
                <a:solidFill>
                  <a:srgbClr val="FFFFFF"/>
                </a:solidFill>
                <a:latin typeface="Libre Franklin"/>
              </a:rPr>
              <a:t>3</a:t>
            </a:r>
          </a:p>
        </p:txBody>
      </p:sp>
      <p:sp>
        <p:nvSpPr>
          <p:cNvPr id="42" name="TextBox 41"/>
          <p:cNvSpPr txBox="1"/>
          <p:nvPr/>
        </p:nvSpPr>
        <p:spPr>
          <a:xfrm>
            <a:off x="5052060" y="1705356"/>
            <a:ext cx="1456182" cy="219456"/>
          </a:xfrm>
          <a:prstGeom prst="rect">
            <a:avLst/>
          </a:prstGeom>
          <a:noFill/>
        </p:spPr>
        <p:txBody>
          <a:bodyPr wrap="square" lIns="0" rIns="0" tIns="0" bIns="0" anchor="t"/>
          <a:lstStyle/>
          <a:p>
            <a:pPr algn="l">
              <a:lnSpc>
                <a:spcPct val="100000"/>
              </a:lnSpc>
              <a:spcBef>
                <a:spcPts val="0"/>
              </a:spcBef>
              <a:spcAft>
                <a:spcPts val="0"/>
              </a:spcAft>
            </a:pPr>
            <a:r>
              <a:rPr sz="1150" b="1" i="0">
                <a:solidFill>
                  <a:srgbClr val="14181B"/>
                </a:solidFill>
                <a:latin typeface="Source Serif 4"/>
              </a:rPr>
              <a:t>Four actions tested</a:t>
            </a:r>
          </a:p>
        </p:txBody>
      </p:sp>
      <p:sp>
        <p:nvSpPr>
          <p:cNvPr id="43" name="TextBox 42"/>
          <p:cNvSpPr txBox="1"/>
          <p:nvPr/>
        </p:nvSpPr>
        <p:spPr>
          <a:xfrm>
            <a:off x="4777740" y="2011680"/>
            <a:ext cx="1712214" cy="694944"/>
          </a:xfrm>
          <a:prstGeom prst="rect">
            <a:avLst/>
          </a:prstGeom>
          <a:noFill/>
        </p:spPr>
        <p:txBody>
          <a:bodyPr wrap="square" lIns="0" rIns="0" tIns="0" bIns="0" anchor="t"/>
          <a:lstStyle/>
          <a:p>
            <a:pPr algn="l">
              <a:lnSpc>
                <a:spcPct val="118000"/>
              </a:lnSpc>
              <a:spcBef>
                <a:spcPts val="0"/>
              </a:spcBef>
              <a:spcAft>
                <a:spcPts val="0"/>
              </a:spcAft>
            </a:pPr>
            <a:r>
              <a:rPr sz="950" b="0" i="0">
                <a:solidFill>
                  <a:srgbClr val="44505A"/>
                </a:solidFill>
                <a:latin typeface="Libre Franklin"/>
              </a:rPr>
              <a:t>Three fail. Reopening a closed crossing holds the chain, and it takes 60 minutes.</a:t>
            </a:r>
          </a:p>
        </p:txBody>
      </p:sp>
      <p:sp>
        <p:nvSpPr>
          <p:cNvPr id="44" name="Rectangle 43"/>
          <p:cNvSpPr/>
          <p:nvPr/>
        </p:nvSpPr>
        <p:spPr>
          <a:xfrm>
            <a:off x="4777740" y="2761488"/>
            <a:ext cx="1712214" cy="201168"/>
          </a:xfrm>
          <a:prstGeom prst="rect">
            <a:avLst/>
          </a:prstGeom>
          <a:solidFill>
            <a:srgbClr val="00798A">
              <a:alpha val="12000"/>
            </a:srgbClr>
          </a:solidFill>
          <a:ln w="12700">
            <a:solidFill>
              <a:srgbClr val="00798A">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4777740" y="2761488"/>
            <a:ext cx="1712214" cy="201168"/>
          </a:xfrm>
          <a:prstGeom prst="rect">
            <a:avLst/>
          </a:prstGeom>
          <a:noFill/>
        </p:spPr>
        <p:txBody>
          <a:bodyPr wrap="square" lIns="0" rIns="0" tIns="0" bIns="0" anchor="ctr"/>
          <a:lstStyle/>
          <a:p>
            <a:pPr algn="ctr">
              <a:lnSpc>
                <a:spcPct val="100000"/>
              </a:lnSpc>
              <a:spcBef>
                <a:spcPts val="0"/>
              </a:spcBef>
              <a:spcAft>
                <a:spcPts val="0"/>
              </a:spcAft>
            </a:pPr>
            <a:r>
              <a:rPr sz="850" b="1" i="0" spc="60">
                <a:solidFill>
                  <a:srgbClr val="00798A"/>
                </a:solidFill>
                <a:latin typeface="Libre Franklin"/>
              </a:rPr>
              <a:t>CASCADE STOPPED</a:t>
            </a:r>
          </a:p>
        </p:txBody>
      </p:sp>
      <p:pic>
        <p:nvPicPr>
          <p:cNvPr id="46" name="Picture 45" descr="arrowr_a1bbd38ba550.png"/>
          <p:cNvPicPr>
            <a:picLocks noChangeAspect="1"/>
          </p:cNvPicPr>
          <p:nvPr/>
        </p:nvPicPr>
        <p:blipFill>
          <a:blip r:embed="rId4"/>
          <a:stretch>
            <a:fillRect/>
          </a:stretch>
        </p:blipFill>
        <p:spPr>
          <a:xfrm>
            <a:off x="6640830" y="2212848"/>
            <a:ext cx="109728" cy="109728"/>
          </a:xfrm>
          <a:prstGeom prst="rect">
            <a:avLst/>
          </a:prstGeom>
        </p:spPr>
      </p:pic>
      <p:sp>
        <p:nvSpPr>
          <p:cNvPr id="47" name="Rectangle 46"/>
          <p:cNvSpPr/>
          <p:nvPr/>
        </p:nvSpPr>
        <p:spPr>
          <a:xfrm>
            <a:off x="6755130" y="1591056"/>
            <a:ext cx="2004822" cy="1463040"/>
          </a:xfrm>
          <a:prstGeom prst="rect">
            <a:avLst/>
          </a:prstGeom>
          <a:solidFill>
            <a:srgbClr val="FAFBFC">
              <a:alpha val="100000"/>
            </a:srgbClr>
          </a:solidFill>
          <a:ln w="9525">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6755130" y="1591056"/>
            <a:ext cx="45720" cy="1463040"/>
          </a:xfrm>
          <a:prstGeom prst="rect">
            <a:avLst/>
          </a:prstGeom>
          <a:solidFill>
            <a:srgbClr val="5E35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6901434" y="1700784"/>
            <a:ext cx="201168" cy="201168"/>
          </a:xfrm>
          <a:prstGeom prst="rect">
            <a:avLst/>
          </a:prstGeom>
          <a:solidFill>
            <a:srgbClr val="5E35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901434" y="1723644"/>
            <a:ext cx="201168" cy="164592"/>
          </a:xfrm>
          <a:prstGeom prst="rect">
            <a:avLst/>
          </a:prstGeom>
          <a:noFill/>
        </p:spPr>
        <p:txBody>
          <a:bodyPr wrap="square" lIns="0" rIns="0" tIns="0" bIns="0" anchor="t"/>
          <a:lstStyle/>
          <a:p>
            <a:pPr algn="ctr">
              <a:lnSpc>
                <a:spcPct val="100000"/>
              </a:lnSpc>
              <a:spcBef>
                <a:spcPts val="0"/>
              </a:spcBef>
              <a:spcAft>
                <a:spcPts val="0"/>
              </a:spcAft>
            </a:pPr>
            <a:r>
              <a:rPr sz="950" b="1" i="0">
                <a:solidFill>
                  <a:srgbClr val="FFFFFF"/>
                </a:solidFill>
                <a:latin typeface="Libre Franklin"/>
              </a:rPr>
              <a:t>4</a:t>
            </a:r>
          </a:p>
        </p:txBody>
      </p:sp>
      <p:sp>
        <p:nvSpPr>
          <p:cNvPr id="51" name="TextBox 50"/>
          <p:cNvSpPr txBox="1"/>
          <p:nvPr/>
        </p:nvSpPr>
        <p:spPr>
          <a:xfrm>
            <a:off x="7175754" y="1705356"/>
            <a:ext cx="1456182" cy="219456"/>
          </a:xfrm>
          <a:prstGeom prst="rect">
            <a:avLst/>
          </a:prstGeom>
          <a:noFill/>
        </p:spPr>
        <p:txBody>
          <a:bodyPr wrap="square" lIns="0" rIns="0" tIns="0" bIns="0" anchor="t"/>
          <a:lstStyle/>
          <a:p>
            <a:pPr algn="l">
              <a:lnSpc>
                <a:spcPct val="100000"/>
              </a:lnSpc>
              <a:spcBef>
                <a:spcPts val="0"/>
              </a:spcBef>
              <a:spcAft>
                <a:spcPts val="0"/>
              </a:spcAft>
            </a:pPr>
            <a:r>
              <a:rPr sz="1150" b="1" i="0">
                <a:solidFill>
                  <a:srgbClr val="14181B"/>
                </a:solidFill>
                <a:latin typeface="Source Serif 4"/>
              </a:rPr>
              <a:t>Now break B12</a:t>
            </a:r>
          </a:p>
        </p:txBody>
      </p:sp>
      <p:sp>
        <p:nvSpPr>
          <p:cNvPr id="52" name="TextBox 51"/>
          <p:cNvSpPr txBox="1"/>
          <p:nvPr/>
        </p:nvSpPr>
        <p:spPr>
          <a:xfrm>
            <a:off x="6901434" y="2011680"/>
            <a:ext cx="1712214" cy="694944"/>
          </a:xfrm>
          <a:prstGeom prst="rect">
            <a:avLst/>
          </a:prstGeom>
          <a:noFill/>
        </p:spPr>
        <p:txBody>
          <a:bodyPr wrap="square" lIns="0" rIns="0" tIns="0" bIns="0" anchor="t"/>
          <a:lstStyle/>
          <a:p>
            <a:pPr algn="l">
              <a:lnSpc>
                <a:spcPct val="118000"/>
              </a:lnSpc>
              <a:spcBef>
                <a:spcPts val="0"/>
              </a:spcBef>
              <a:spcAft>
                <a:spcPts val="0"/>
              </a:spcAft>
            </a:pPr>
            <a:r>
              <a:rPr sz="950" b="0" i="0">
                <a:solidFill>
                  <a:srgbClr val="44505A"/>
                </a:solidFill>
                <a:latin typeface="Libre Franklin"/>
              </a:rPr>
              <a:t>Same engine, different answer. Nothing holds it. 17,794 people lose their route to help.</a:t>
            </a:r>
          </a:p>
        </p:txBody>
      </p:sp>
      <p:sp>
        <p:nvSpPr>
          <p:cNvPr id="53" name="Rectangle 52"/>
          <p:cNvSpPr/>
          <p:nvPr/>
        </p:nvSpPr>
        <p:spPr>
          <a:xfrm>
            <a:off x="6901434" y="2761488"/>
            <a:ext cx="1712214" cy="201168"/>
          </a:xfrm>
          <a:prstGeom prst="rect">
            <a:avLst/>
          </a:prstGeom>
          <a:solidFill>
            <a:srgbClr val="5E35B1">
              <a:alpha val="12000"/>
            </a:srgbClr>
          </a:solidFill>
          <a:ln w="12700">
            <a:solidFill>
              <a:srgbClr val="5E35B1">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6901434" y="2761488"/>
            <a:ext cx="1712214" cy="201168"/>
          </a:xfrm>
          <a:prstGeom prst="rect">
            <a:avLst/>
          </a:prstGeom>
          <a:noFill/>
        </p:spPr>
        <p:txBody>
          <a:bodyPr wrap="square" lIns="0" rIns="0" tIns="0" bIns="0" anchor="ctr"/>
          <a:lstStyle/>
          <a:p>
            <a:pPr algn="ctr">
              <a:lnSpc>
                <a:spcPct val="100000"/>
              </a:lnSpc>
              <a:spcBef>
                <a:spcPts val="0"/>
              </a:spcBef>
              <a:spcAft>
                <a:spcPts val="0"/>
              </a:spcAft>
            </a:pPr>
            <a:r>
              <a:rPr sz="850" b="1" i="0" spc="60">
                <a:solidFill>
                  <a:srgbClr val="5E35B1"/>
                </a:solidFill>
                <a:latin typeface="Libre Franklin"/>
              </a:rPr>
              <a:t>ONLY HARDENING HELPS</a:t>
            </a:r>
          </a:p>
        </p:txBody>
      </p:sp>
      <p:sp>
        <p:nvSpPr>
          <p:cNvPr id="55" name="Rectangle 54"/>
          <p:cNvSpPr/>
          <p:nvPr/>
        </p:nvSpPr>
        <p:spPr>
          <a:xfrm>
            <a:off x="384048" y="3127248"/>
            <a:ext cx="4956048" cy="969264"/>
          </a:xfrm>
          <a:prstGeom prst="rect">
            <a:avLst/>
          </a:prstGeom>
          <a:solidFill>
            <a:srgbClr val="FAFBFC">
              <a:alpha val="100000"/>
            </a:srgbClr>
          </a:solidFill>
          <a:ln w="9525">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384048" y="3127248"/>
            <a:ext cx="45720" cy="969264"/>
          </a:xfrm>
          <a:prstGeom prst="rect">
            <a:avLst/>
          </a:prstGeom>
          <a:solidFill>
            <a:srgbClr val="2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585216" y="3218688"/>
            <a:ext cx="4572000" cy="237744"/>
          </a:xfrm>
          <a:prstGeom prst="rect">
            <a:avLst/>
          </a:prstGeom>
          <a:noFill/>
        </p:spPr>
        <p:txBody>
          <a:bodyPr wrap="square" lIns="0" rIns="0" tIns="0" bIns="0" anchor="t"/>
          <a:lstStyle/>
          <a:p>
            <a:pPr algn="l">
              <a:lnSpc>
                <a:spcPct val="100000"/>
              </a:lnSpc>
              <a:spcBef>
                <a:spcPts val="0"/>
              </a:spcBef>
              <a:spcAft>
                <a:spcPts val="0"/>
              </a:spcAft>
            </a:pPr>
            <a:r>
              <a:rPr sz="1200" b="1" i="0">
                <a:solidFill>
                  <a:srgbClr val="14181B"/>
                </a:solidFill>
                <a:latin typeface="Source Serif 4"/>
              </a:rPr>
              <a:t>Why that road, and not another</a:t>
            </a:r>
          </a:p>
        </p:txBody>
      </p:sp>
      <p:sp>
        <p:nvSpPr>
          <p:cNvPr id="58" name="TextBox 57"/>
          <p:cNvSpPr txBox="1"/>
          <p:nvPr/>
        </p:nvSpPr>
        <p:spPr>
          <a:xfrm>
            <a:off x="585216" y="3493008"/>
            <a:ext cx="1069848" cy="292608"/>
          </a:xfrm>
          <a:prstGeom prst="rect">
            <a:avLst/>
          </a:prstGeom>
          <a:noFill/>
        </p:spPr>
        <p:txBody>
          <a:bodyPr wrap="square" lIns="0" rIns="0" tIns="0" bIns="0" anchor="t"/>
          <a:lstStyle/>
          <a:p>
            <a:pPr algn="l">
              <a:lnSpc>
                <a:spcPct val="108000"/>
              </a:lnSpc>
              <a:spcBef>
                <a:spcPts val="0"/>
              </a:spcBef>
              <a:spcAft>
                <a:spcPts val="0"/>
              </a:spcAft>
            </a:pPr>
            <a:r>
              <a:rPr sz="850" b="0" i="0">
                <a:solidFill>
                  <a:srgbClr val="5F6A72"/>
                </a:solidFill>
                <a:latin typeface="Libre Franklin"/>
              </a:rPr>
              <a:t>Overloaded right now</a:t>
            </a:r>
          </a:p>
        </p:txBody>
      </p:sp>
      <p:sp>
        <p:nvSpPr>
          <p:cNvPr id="59" name="Rectangle 58"/>
          <p:cNvSpPr/>
          <p:nvPr/>
        </p:nvSpPr>
        <p:spPr>
          <a:xfrm>
            <a:off x="585216" y="3803904"/>
            <a:ext cx="1069848" cy="9144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585216" y="3803904"/>
            <a:ext cx="952165" cy="91440"/>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585216" y="3913632"/>
            <a:ext cx="1069848" cy="146304"/>
          </a:xfrm>
          <a:prstGeom prst="rect">
            <a:avLst/>
          </a:prstGeom>
          <a:noFill/>
        </p:spPr>
        <p:txBody>
          <a:bodyPr wrap="square" lIns="0" rIns="0" tIns="0" bIns="0" anchor="t"/>
          <a:lstStyle/>
          <a:p>
            <a:pPr algn="l">
              <a:lnSpc>
                <a:spcPct val="100000"/>
              </a:lnSpc>
              <a:spcBef>
                <a:spcPts val="0"/>
              </a:spcBef>
              <a:spcAft>
                <a:spcPts val="0"/>
              </a:spcAft>
            </a:pPr>
            <a:r>
              <a:rPr sz="950" b="1" i="0">
                <a:solidFill>
                  <a:srgbClr val="BF5B12"/>
                </a:solidFill>
                <a:latin typeface="Source Serif 4"/>
              </a:rPr>
              <a:t>89%</a:t>
            </a:r>
          </a:p>
        </p:txBody>
      </p:sp>
      <p:sp>
        <p:nvSpPr>
          <p:cNvPr id="62" name="TextBox 61"/>
          <p:cNvSpPr txBox="1"/>
          <p:nvPr/>
        </p:nvSpPr>
        <p:spPr>
          <a:xfrm>
            <a:off x="1746504" y="3493008"/>
            <a:ext cx="1069848" cy="292608"/>
          </a:xfrm>
          <a:prstGeom prst="rect">
            <a:avLst/>
          </a:prstGeom>
          <a:noFill/>
        </p:spPr>
        <p:txBody>
          <a:bodyPr wrap="square" lIns="0" rIns="0" tIns="0" bIns="0" anchor="t"/>
          <a:lstStyle/>
          <a:p>
            <a:pPr algn="l">
              <a:lnSpc>
                <a:spcPct val="108000"/>
              </a:lnSpc>
              <a:spcBef>
                <a:spcPts val="0"/>
              </a:spcBef>
              <a:spcAft>
                <a:spcPts val="0"/>
              </a:spcAft>
            </a:pPr>
            <a:r>
              <a:rPr sz="850" b="0" i="0">
                <a:solidFill>
                  <a:srgbClr val="5F6A72"/>
                </a:solidFill>
                <a:latin typeface="Libre Franklin"/>
              </a:rPr>
              <a:t>Network runs through it</a:t>
            </a:r>
          </a:p>
        </p:txBody>
      </p:sp>
      <p:sp>
        <p:nvSpPr>
          <p:cNvPr id="63" name="Rectangle 62"/>
          <p:cNvSpPr/>
          <p:nvPr/>
        </p:nvSpPr>
        <p:spPr>
          <a:xfrm>
            <a:off x="1746504" y="3803904"/>
            <a:ext cx="1069848" cy="9144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1746504" y="3803904"/>
            <a:ext cx="353050" cy="91440"/>
          </a:xfrm>
          <a:prstGeom prst="rect">
            <a:avLst/>
          </a:prstGeom>
          <a:solidFill>
            <a:srgbClr val="2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1746504" y="3913632"/>
            <a:ext cx="1069848" cy="146304"/>
          </a:xfrm>
          <a:prstGeom prst="rect">
            <a:avLst/>
          </a:prstGeom>
          <a:noFill/>
        </p:spPr>
        <p:txBody>
          <a:bodyPr wrap="square" lIns="0" rIns="0" tIns="0" bIns="0" anchor="t"/>
          <a:lstStyle/>
          <a:p>
            <a:pPr algn="l">
              <a:lnSpc>
                <a:spcPct val="100000"/>
              </a:lnSpc>
              <a:spcBef>
                <a:spcPts val="0"/>
              </a:spcBef>
              <a:spcAft>
                <a:spcPts val="0"/>
              </a:spcAft>
            </a:pPr>
            <a:r>
              <a:rPr sz="950" b="1" i="0">
                <a:solidFill>
                  <a:srgbClr val="2F6FD0"/>
                </a:solidFill>
                <a:latin typeface="Source Serif 4"/>
              </a:rPr>
              <a:t>33%</a:t>
            </a:r>
          </a:p>
        </p:txBody>
      </p:sp>
      <p:sp>
        <p:nvSpPr>
          <p:cNvPr id="66" name="TextBox 65"/>
          <p:cNvSpPr txBox="1"/>
          <p:nvPr/>
        </p:nvSpPr>
        <p:spPr>
          <a:xfrm>
            <a:off x="2907792" y="3493008"/>
            <a:ext cx="1069848" cy="292608"/>
          </a:xfrm>
          <a:prstGeom prst="rect">
            <a:avLst/>
          </a:prstGeom>
          <a:noFill/>
        </p:spPr>
        <p:txBody>
          <a:bodyPr wrap="square" lIns="0" rIns="0" tIns="0" bIns="0" anchor="t"/>
          <a:lstStyle/>
          <a:p>
            <a:pPr algn="l">
              <a:lnSpc>
                <a:spcPct val="108000"/>
              </a:lnSpc>
              <a:spcBef>
                <a:spcPts val="0"/>
              </a:spcBef>
              <a:spcAft>
                <a:spcPts val="0"/>
              </a:spcAft>
            </a:pPr>
            <a:r>
              <a:rPr sz="850" b="0" i="0">
                <a:solidFill>
                  <a:srgbClr val="5F6A72"/>
                </a:solidFill>
                <a:latin typeface="Libre Franklin"/>
              </a:rPr>
              <a:t>Ambulance routes use it</a:t>
            </a:r>
          </a:p>
        </p:txBody>
      </p:sp>
      <p:sp>
        <p:nvSpPr>
          <p:cNvPr id="67" name="Rectangle 66"/>
          <p:cNvSpPr/>
          <p:nvPr/>
        </p:nvSpPr>
        <p:spPr>
          <a:xfrm>
            <a:off x="2907792" y="3803904"/>
            <a:ext cx="1069848" cy="9144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ectangle 67"/>
          <p:cNvSpPr/>
          <p:nvPr/>
        </p:nvSpPr>
        <p:spPr>
          <a:xfrm>
            <a:off x="2907792" y="3803904"/>
            <a:ext cx="930768" cy="914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2907792" y="3913632"/>
            <a:ext cx="1069848" cy="146304"/>
          </a:xfrm>
          <a:prstGeom prst="rect">
            <a:avLst/>
          </a:prstGeom>
          <a:noFill/>
        </p:spPr>
        <p:txBody>
          <a:bodyPr wrap="square" lIns="0" rIns="0" tIns="0" bIns="0" anchor="t"/>
          <a:lstStyle/>
          <a:p>
            <a:pPr algn="l">
              <a:lnSpc>
                <a:spcPct val="100000"/>
              </a:lnSpc>
              <a:spcBef>
                <a:spcPts val="0"/>
              </a:spcBef>
              <a:spcAft>
                <a:spcPts val="0"/>
              </a:spcAft>
            </a:pPr>
            <a:r>
              <a:rPr sz="950" b="1" i="0">
                <a:solidFill>
                  <a:srgbClr val="C62828"/>
                </a:solidFill>
                <a:latin typeface="Source Serif 4"/>
              </a:rPr>
              <a:t>87%</a:t>
            </a:r>
          </a:p>
        </p:txBody>
      </p:sp>
      <p:sp>
        <p:nvSpPr>
          <p:cNvPr id="70" name="TextBox 69"/>
          <p:cNvSpPr txBox="1"/>
          <p:nvPr/>
        </p:nvSpPr>
        <p:spPr>
          <a:xfrm>
            <a:off x="4069080" y="3493008"/>
            <a:ext cx="1069848" cy="292608"/>
          </a:xfrm>
          <a:prstGeom prst="rect">
            <a:avLst/>
          </a:prstGeom>
          <a:noFill/>
        </p:spPr>
        <p:txBody>
          <a:bodyPr wrap="square" lIns="0" rIns="0" tIns="0" bIns="0" anchor="t"/>
          <a:lstStyle/>
          <a:p>
            <a:pPr algn="l">
              <a:lnSpc>
                <a:spcPct val="108000"/>
              </a:lnSpc>
              <a:spcBef>
                <a:spcPts val="0"/>
              </a:spcBef>
              <a:spcAft>
                <a:spcPts val="0"/>
              </a:spcAft>
            </a:pPr>
            <a:r>
              <a:rPr sz="850" b="0" i="0">
                <a:solidFill>
                  <a:srgbClr val="5F6A72"/>
                </a:solidFill>
                <a:latin typeface="Libre Franklin"/>
              </a:rPr>
              <a:t>People living behind it</a:t>
            </a:r>
          </a:p>
        </p:txBody>
      </p:sp>
      <p:sp>
        <p:nvSpPr>
          <p:cNvPr id="71" name="Rectangle 70"/>
          <p:cNvSpPr/>
          <p:nvPr/>
        </p:nvSpPr>
        <p:spPr>
          <a:xfrm>
            <a:off x="4069080" y="3803904"/>
            <a:ext cx="1069848" cy="91440"/>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ectangle 71"/>
          <p:cNvSpPr/>
          <p:nvPr/>
        </p:nvSpPr>
        <p:spPr>
          <a:xfrm>
            <a:off x="4069080" y="3803904"/>
            <a:ext cx="288859" cy="91440"/>
          </a:xfrm>
          <a:prstGeom prst="rect">
            <a:avLst/>
          </a:prstGeom>
          <a:solidFill>
            <a:srgbClr val="0079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4069080" y="3913632"/>
            <a:ext cx="1069848" cy="146304"/>
          </a:xfrm>
          <a:prstGeom prst="rect">
            <a:avLst/>
          </a:prstGeom>
          <a:noFill/>
        </p:spPr>
        <p:txBody>
          <a:bodyPr wrap="square" lIns="0" rIns="0" tIns="0" bIns="0" anchor="t"/>
          <a:lstStyle/>
          <a:p>
            <a:pPr algn="l">
              <a:lnSpc>
                <a:spcPct val="100000"/>
              </a:lnSpc>
              <a:spcBef>
                <a:spcPts val="0"/>
              </a:spcBef>
              <a:spcAft>
                <a:spcPts val="0"/>
              </a:spcAft>
            </a:pPr>
            <a:r>
              <a:rPr sz="950" b="1" i="0">
                <a:solidFill>
                  <a:srgbClr val="00798A"/>
                </a:solidFill>
                <a:latin typeface="Source Serif 4"/>
              </a:rPr>
              <a:t>27%</a:t>
            </a:r>
          </a:p>
        </p:txBody>
      </p:sp>
      <p:sp>
        <p:nvSpPr>
          <p:cNvPr id="74" name="Rectangle 73"/>
          <p:cNvSpPr/>
          <p:nvPr/>
        </p:nvSpPr>
        <p:spPr>
          <a:xfrm>
            <a:off x="5504688" y="3127248"/>
            <a:ext cx="3255264" cy="969264"/>
          </a:xfrm>
          <a:prstGeom prst="rect">
            <a:avLst/>
          </a:prstGeom>
          <a:solidFill>
            <a:srgbClr val="5E35B1">
              <a:alpha val="8000"/>
            </a:srgbClr>
          </a:solidFill>
          <a:ln w="15240">
            <a:solidFill>
              <a:srgbClr val="5E35B1">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Rectangle 74"/>
          <p:cNvSpPr/>
          <p:nvPr/>
        </p:nvSpPr>
        <p:spPr>
          <a:xfrm>
            <a:off x="5504688" y="3127248"/>
            <a:ext cx="45720" cy="969264"/>
          </a:xfrm>
          <a:prstGeom prst="rect">
            <a:avLst/>
          </a:prstGeom>
          <a:solidFill>
            <a:srgbClr val="5E35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5705856" y="3218688"/>
            <a:ext cx="2926080" cy="237744"/>
          </a:xfrm>
          <a:prstGeom prst="rect">
            <a:avLst/>
          </a:prstGeom>
          <a:noFill/>
        </p:spPr>
        <p:txBody>
          <a:bodyPr wrap="square" lIns="0" rIns="0" tIns="0" bIns="0" anchor="t"/>
          <a:lstStyle/>
          <a:p>
            <a:pPr algn="l">
              <a:lnSpc>
                <a:spcPct val="100000"/>
              </a:lnSpc>
              <a:spcBef>
                <a:spcPts val="0"/>
              </a:spcBef>
              <a:spcAft>
                <a:spcPts val="0"/>
              </a:spcAft>
            </a:pPr>
            <a:r>
              <a:rPr sz="1200" b="1" i="0">
                <a:solidFill>
                  <a:srgbClr val="5E35B1"/>
                </a:solidFill>
                <a:latin typeface="Source Serif 4"/>
              </a:rPr>
              <a:t>Dark zones: both, never either</a:t>
            </a:r>
          </a:p>
        </p:txBody>
      </p:sp>
      <p:sp>
        <p:nvSpPr>
          <p:cNvPr id="77" name="TextBox 76"/>
          <p:cNvSpPr txBox="1"/>
          <p:nvPr/>
        </p:nvSpPr>
        <p:spPr>
          <a:xfrm>
            <a:off x="5705856" y="3474720"/>
            <a:ext cx="2871216" cy="365760"/>
          </a:xfrm>
          <a:prstGeom prst="rect">
            <a:avLst/>
          </a:prstGeom>
          <a:noFill/>
        </p:spPr>
        <p:txBody>
          <a:bodyPr wrap="square" lIns="0" rIns="0" tIns="0" bIns="0" anchor="t"/>
          <a:lstStyle/>
          <a:p>
            <a:pPr algn="l">
              <a:lnSpc>
                <a:spcPct val="115999"/>
              </a:lnSpc>
              <a:spcBef>
                <a:spcPts val="0"/>
              </a:spcBef>
              <a:spcAft>
                <a:spcPts val="0"/>
              </a:spcAft>
            </a:pPr>
            <a:r>
              <a:rPr sz="950" b="0" i="0">
                <a:solidFill>
                  <a:srgbClr val="44505A"/>
                </a:solidFill>
                <a:latin typeface="Libre Franklin"/>
              </a:rPr>
              <a:t>No road to help AND no phone signal. Malpe goes dark at once, Kadiyali 25 minutes later.</a:t>
            </a:r>
          </a:p>
        </p:txBody>
      </p:sp>
      <p:sp>
        <p:nvSpPr>
          <p:cNvPr id="78" name="TextBox 77"/>
          <p:cNvSpPr txBox="1"/>
          <p:nvPr/>
        </p:nvSpPr>
        <p:spPr>
          <a:xfrm>
            <a:off x="5705856" y="3895344"/>
            <a:ext cx="2871216" cy="182880"/>
          </a:xfrm>
          <a:prstGeom prst="rect">
            <a:avLst/>
          </a:prstGeom>
          <a:noFill/>
        </p:spPr>
        <p:txBody>
          <a:bodyPr wrap="square" lIns="0" rIns="0" tIns="0" bIns="0" anchor="t"/>
          <a:lstStyle/>
          <a:p>
            <a:pPr algn="l">
              <a:lnSpc>
                <a:spcPct val="100000"/>
              </a:lnSpc>
              <a:spcBef>
                <a:spcPts val="0"/>
              </a:spcBef>
              <a:spcAft>
                <a:spcPts val="0"/>
              </a:spcAft>
            </a:pPr>
            <a:r>
              <a:rPr sz="1100" b="1" i="0">
                <a:solidFill>
                  <a:srgbClr val="5E35B1"/>
                </a:solidFill>
                <a:latin typeface="Source Serif 4"/>
              </a:rPr>
              <a:t>T dark  =  max ( T phys ,  T comm )</a:t>
            </a:r>
          </a:p>
        </p:txBody>
      </p:sp>
      <p:sp>
        <p:nvSpPr>
          <p:cNvPr id="79" name="TextBox 78"/>
          <p:cNvSpPr txBox="1"/>
          <p:nvPr/>
        </p:nvSpPr>
        <p:spPr>
          <a:xfrm>
            <a:off x="384048" y="4169664"/>
            <a:ext cx="5486400" cy="201168"/>
          </a:xfrm>
          <a:prstGeom prst="rect">
            <a:avLst/>
          </a:prstGeom>
          <a:noFill/>
        </p:spPr>
        <p:txBody>
          <a:bodyPr wrap="square" lIns="0" rIns="0" tIns="0" bIns="0" anchor="t"/>
          <a:lstStyle/>
          <a:p>
            <a:pPr algn="l">
              <a:lnSpc>
                <a:spcPct val="100000"/>
              </a:lnSpc>
              <a:spcBef>
                <a:spcPts val="0"/>
              </a:spcBef>
              <a:spcAft>
                <a:spcPts val="0"/>
              </a:spcAft>
            </a:pPr>
            <a:r>
              <a:rPr sz="950" b="1" i="0" spc="80">
                <a:solidFill>
                  <a:srgbClr val="5F6A72"/>
                </a:solidFill>
                <a:latin typeface="Libre Franklin"/>
              </a:rPr>
              <a:t>THE ENGINE BEHIND IT, IN ORDER</a:t>
            </a:r>
          </a:p>
        </p:txBody>
      </p:sp>
      <p:sp>
        <p:nvSpPr>
          <p:cNvPr id="80" name="Rectangle 79"/>
          <p:cNvSpPr/>
          <p:nvPr/>
        </p:nvSpPr>
        <p:spPr>
          <a:xfrm>
            <a:off x="384048" y="4370832"/>
            <a:ext cx="1274064" cy="310896"/>
          </a:xfrm>
          <a:prstGeom prst="rect">
            <a:avLst/>
          </a:prstGeom>
          <a:solidFill>
            <a:srgbClr val="FAFBFC">
              <a:alpha val="100000"/>
            </a:srgbClr>
          </a:solidFill>
          <a:ln w="12700">
            <a:solidFill>
              <a:srgbClr val="BCC5CB">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420624" y="4370832"/>
            <a:ext cx="1200912" cy="310896"/>
          </a:xfrm>
          <a:prstGeom prst="rect">
            <a:avLst/>
          </a:prstGeom>
          <a:noFill/>
        </p:spPr>
        <p:txBody>
          <a:bodyPr wrap="square" lIns="0" rIns="0" tIns="0" bIns="0" anchor="ctr"/>
          <a:lstStyle/>
          <a:p>
            <a:pPr algn="ctr">
              <a:lnSpc>
                <a:spcPct val="105000"/>
              </a:lnSpc>
              <a:spcBef>
                <a:spcPts val="0"/>
              </a:spcBef>
              <a:spcAft>
                <a:spcPts val="0"/>
              </a:spcAft>
            </a:pPr>
            <a:r>
              <a:rPr sz="900" b="1" i="0">
                <a:solidFill>
                  <a:srgbClr val="44505A"/>
                </a:solidFill>
                <a:latin typeface="Libre Franklin"/>
              </a:rPr>
              <a:t>Map the city</a:t>
            </a:r>
          </a:p>
        </p:txBody>
      </p:sp>
      <p:pic>
        <p:nvPicPr>
          <p:cNvPr id="82" name="Picture 81" descr="arrowr_d3fbc9bd6dee.png"/>
          <p:cNvPicPr>
            <a:picLocks noChangeAspect="1"/>
          </p:cNvPicPr>
          <p:nvPr/>
        </p:nvPicPr>
        <p:blipFill>
          <a:blip r:embed="rId5"/>
          <a:stretch>
            <a:fillRect/>
          </a:stretch>
        </p:blipFill>
        <p:spPr>
          <a:xfrm>
            <a:off x="1671828" y="4462272"/>
            <a:ext cx="118872" cy="118872"/>
          </a:xfrm>
          <a:prstGeom prst="rect">
            <a:avLst/>
          </a:prstGeom>
        </p:spPr>
      </p:pic>
      <p:sp>
        <p:nvSpPr>
          <p:cNvPr id="83" name="Rectangle 82"/>
          <p:cNvSpPr/>
          <p:nvPr/>
        </p:nvSpPr>
        <p:spPr>
          <a:xfrm>
            <a:off x="1804416" y="4370832"/>
            <a:ext cx="1274064" cy="310896"/>
          </a:xfrm>
          <a:prstGeom prst="rect">
            <a:avLst/>
          </a:prstGeom>
          <a:solidFill>
            <a:srgbClr val="FAFBFC">
              <a:alpha val="100000"/>
            </a:srgbClr>
          </a:solidFill>
          <a:ln w="12700">
            <a:solidFill>
              <a:srgbClr val="C62828">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TextBox 83"/>
          <p:cNvSpPr txBox="1"/>
          <p:nvPr/>
        </p:nvSpPr>
        <p:spPr>
          <a:xfrm>
            <a:off x="1840992" y="4370832"/>
            <a:ext cx="1200912" cy="310896"/>
          </a:xfrm>
          <a:prstGeom prst="rect">
            <a:avLst/>
          </a:prstGeom>
          <a:noFill/>
        </p:spPr>
        <p:txBody>
          <a:bodyPr wrap="square" lIns="0" rIns="0" tIns="0" bIns="0" anchor="ctr"/>
          <a:lstStyle/>
          <a:p>
            <a:pPr algn="ctr">
              <a:lnSpc>
                <a:spcPct val="105000"/>
              </a:lnSpc>
              <a:spcBef>
                <a:spcPts val="0"/>
              </a:spcBef>
              <a:spcAft>
                <a:spcPts val="0"/>
              </a:spcAft>
            </a:pPr>
            <a:r>
              <a:rPr sz="900" b="1" i="0">
                <a:solidFill>
                  <a:srgbClr val="44505A"/>
                </a:solidFill>
                <a:latin typeface="Libre Franklin"/>
              </a:rPr>
              <a:t>Break one asset</a:t>
            </a:r>
          </a:p>
        </p:txBody>
      </p:sp>
      <p:pic>
        <p:nvPicPr>
          <p:cNvPr id="85" name="Picture 84" descr="arrowr_d3fbc9bd6dee.png"/>
          <p:cNvPicPr>
            <a:picLocks noChangeAspect="1"/>
          </p:cNvPicPr>
          <p:nvPr/>
        </p:nvPicPr>
        <p:blipFill>
          <a:blip r:embed="rId5"/>
          <a:stretch>
            <a:fillRect/>
          </a:stretch>
        </p:blipFill>
        <p:spPr>
          <a:xfrm>
            <a:off x="3092196" y="4462272"/>
            <a:ext cx="118872" cy="118872"/>
          </a:xfrm>
          <a:prstGeom prst="rect">
            <a:avLst/>
          </a:prstGeom>
        </p:spPr>
      </p:pic>
      <p:sp>
        <p:nvSpPr>
          <p:cNvPr id="86" name="Rectangle 85"/>
          <p:cNvSpPr/>
          <p:nvPr/>
        </p:nvSpPr>
        <p:spPr>
          <a:xfrm>
            <a:off x="3224784" y="4370832"/>
            <a:ext cx="1274064" cy="310896"/>
          </a:xfrm>
          <a:prstGeom prst="rect">
            <a:avLst/>
          </a:prstGeom>
          <a:solidFill>
            <a:srgbClr val="FAFBFC">
              <a:alpha val="100000"/>
            </a:srgbClr>
          </a:solidFill>
          <a:ln w="12700">
            <a:solidFill>
              <a:srgbClr val="BF5B12">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TextBox 86"/>
          <p:cNvSpPr txBox="1"/>
          <p:nvPr/>
        </p:nvSpPr>
        <p:spPr>
          <a:xfrm>
            <a:off x="3261360" y="4370832"/>
            <a:ext cx="1200912" cy="310896"/>
          </a:xfrm>
          <a:prstGeom prst="rect">
            <a:avLst/>
          </a:prstGeom>
          <a:noFill/>
        </p:spPr>
        <p:txBody>
          <a:bodyPr wrap="square" lIns="0" rIns="0" tIns="0" bIns="0" anchor="ctr"/>
          <a:lstStyle/>
          <a:p>
            <a:pPr algn="ctr">
              <a:lnSpc>
                <a:spcPct val="105000"/>
              </a:lnSpc>
              <a:spcBef>
                <a:spcPts val="0"/>
              </a:spcBef>
              <a:spcAft>
                <a:spcPts val="0"/>
              </a:spcAft>
            </a:pPr>
            <a:r>
              <a:rPr sz="900" b="1" i="0">
                <a:solidFill>
                  <a:srgbClr val="44505A"/>
                </a:solidFill>
                <a:latin typeface="Libre Franklin"/>
              </a:rPr>
              <a:t>Reassign traffic</a:t>
            </a:r>
          </a:p>
        </p:txBody>
      </p:sp>
      <p:pic>
        <p:nvPicPr>
          <p:cNvPr id="88" name="Picture 87" descr="arrowr_d3fbc9bd6dee.png"/>
          <p:cNvPicPr>
            <a:picLocks noChangeAspect="1"/>
          </p:cNvPicPr>
          <p:nvPr/>
        </p:nvPicPr>
        <p:blipFill>
          <a:blip r:embed="rId5"/>
          <a:stretch>
            <a:fillRect/>
          </a:stretch>
        </p:blipFill>
        <p:spPr>
          <a:xfrm>
            <a:off x="4512564" y="4462272"/>
            <a:ext cx="118872" cy="118872"/>
          </a:xfrm>
          <a:prstGeom prst="rect">
            <a:avLst/>
          </a:prstGeom>
        </p:spPr>
      </p:pic>
      <p:sp>
        <p:nvSpPr>
          <p:cNvPr id="89" name="Rectangle 88"/>
          <p:cNvSpPr/>
          <p:nvPr/>
        </p:nvSpPr>
        <p:spPr>
          <a:xfrm>
            <a:off x="4645152" y="4370832"/>
            <a:ext cx="1274064" cy="310896"/>
          </a:xfrm>
          <a:prstGeom prst="rect">
            <a:avLst/>
          </a:prstGeom>
          <a:solidFill>
            <a:srgbClr val="FAFBFC">
              <a:alpha val="100000"/>
            </a:srgbClr>
          </a:solidFill>
          <a:ln w="12700">
            <a:solidFill>
              <a:srgbClr val="BF5B12">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TextBox 89"/>
          <p:cNvSpPr txBox="1"/>
          <p:nvPr/>
        </p:nvSpPr>
        <p:spPr>
          <a:xfrm>
            <a:off x="4681728" y="4370832"/>
            <a:ext cx="1200912" cy="310896"/>
          </a:xfrm>
          <a:prstGeom prst="rect">
            <a:avLst/>
          </a:prstGeom>
          <a:noFill/>
        </p:spPr>
        <p:txBody>
          <a:bodyPr wrap="square" lIns="0" rIns="0" tIns="0" bIns="0" anchor="ctr"/>
          <a:lstStyle/>
          <a:p>
            <a:pPr algn="ctr">
              <a:lnSpc>
                <a:spcPct val="105000"/>
              </a:lnSpc>
              <a:spcBef>
                <a:spcPts val="0"/>
              </a:spcBef>
              <a:spcAft>
                <a:spcPts val="0"/>
              </a:spcAft>
            </a:pPr>
            <a:r>
              <a:rPr sz="900" b="1" i="0">
                <a:solidFill>
                  <a:srgbClr val="44505A"/>
                </a:solidFill>
                <a:latin typeface="Libre Franklin"/>
              </a:rPr>
              <a:t>Score what breaks next</a:t>
            </a:r>
          </a:p>
        </p:txBody>
      </p:sp>
      <p:pic>
        <p:nvPicPr>
          <p:cNvPr id="91" name="Picture 90" descr="arrowr_d3fbc9bd6dee.png"/>
          <p:cNvPicPr>
            <a:picLocks noChangeAspect="1"/>
          </p:cNvPicPr>
          <p:nvPr/>
        </p:nvPicPr>
        <p:blipFill>
          <a:blip r:embed="rId5"/>
          <a:stretch>
            <a:fillRect/>
          </a:stretch>
        </p:blipFill>
        <p:spPr>
          <a:xfrm>
            <a:off x="5932932" y="4462272"/>
            <a:ext cx="118872" cy="118872"/>
          </a:xfrm>
          <a:prstGeom prst="rect">
            <a:avLst/>
          </a:prstGeom>
        </p:spPr>
      </p:pic>
      <p:sp>
        <p:nvSpPr>
          <p:cNvPr id="92" name="Rectangle 91"/>
          <p:cNvSpPr/>
          <p:nvPr/>
        </p:nvSpPr>
        <p:spPr>
          <a:xfrm>
            <a:off x="6065520" y="4370832"/>
            <a:ext cx="1274064" cy="310896"/>
          </a:xfrm>
          <a:prstGeom prst="rect">
            <a:avLst/>
          </a:prstGeom>
          <a:solidFill>
            <a:srgbClr val="FAFBFC">
              <a:alpha val="100000"/>
            </a:srgbClr>
          </a:solidFill>
          <a:ln w="12700">
            <a:solidFill>
              <a:srgbClr val="00798A">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6102096" y="4370832"/>
            <a:ext cx="1200912" cy="310896"/>
          </a:xfrm>
          <a:prstGeom prst="rect">
            <a:avLst/>
          </a:prstGeom>
          <a:noFill/>
        </p:spPr>
        <p:txBody>
          <a:bodyPr wrap="square" lIns="0" rIns="0" tIns="0" bIns="0" anchor="ctr"/>
          <a:lstStyle/>
          <a:p>
            <a:pPr algn="ctr">
              <a:lnSpc>
                <a:spcPct val="105000"/>
              </a:lnSpc>
              <a:spcBef>
                <a:spcPts val="0"/>
              </a:spcBef>
              <a:spcAft>
                <a:spcPts val="0"/>
              </a:spcAft>
            </a:pPr>
            <a:r>
              <a:rPr sz="900" b="1" i="0">
                <a:solidFill>
                  <a:srgbClr val="44505A"/>
                </a:solidFill>
                <a:latin typeface="Libre Franklin"/>
              </a:rPr>
              <a:t>Test every action</a:t>
            </a:r>
          </a:p>
        </p:txBody>
      </p:sp>
      <p:pic>
        <p:nvPicPr>
          <p:cNvPr id="94" name="Picture 93" descr="arrowr_d3fbc9bd6dee.png"/>
          <p:cNvPicPr>
            <a:picLocks noChangeAspect="1"/>
          </p:cNvPicPr>
          <p:nvPr/>
        </p:nvPicPr>
        <p:blipFill>
          <a:blip r:embed="rId5"/>
          <a:stretch>
            <a:fillRect/>
          </a:stretch>
        </p:blipFill>
        <p:spPr>
          <a:xfrm>
            <a:off x="7353300" y="4462272"/>
            <a:ext cx="118872" cy="118872"/>
          </a:xfrm>
          <a:prstGeom prst="rect">
            <a:avLst/>
          </a:prstGeom>
        </p:spPr>
      </p:pic>
      <p:sp>
        <p:nvSpPr>
          <p:cNvPr id="95" name="Rectangle 94"/>
          <p:cNvSpPr/>
          <p:nvPr/>
        </p:nvSpPr>
        <p:spPr>
          <a:xfrm>
            <a:off x="7485888" y="4370832"/>
            <a:ext cx="1274064" cy="310896"/>
          </a:xfrm>
          <a:prstGeom prst="rect">
            <a:avLst/>
          </a:prstGeom>
          <a:solidFill>
            <a:srgbClr val="FAFBFC">
              <a:alpha val="100000"/>
            </a:srgbClr>
          </a:solidFill>
          <a:ln w="12700">
            <a:solidFill>
              <a:srgbClr val="00798A">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TextBox 95"/>
          <p:cNvSpPr txBox="1"/>
          <p:nvPr/>
        </p:nvSpPr>
        <p:spPr>
          <a:xfrm>
            <a:off x="7522464" y="4370832"/>
            <a:ext cx="1200912" cy="310896"/>
          </a:xfrm>
          <a:prstGeom prst="rect">
            <a:avLst/>
          </a:prstGeom>
          <a:noFill/>
        </p:spPr>
        <p:txBody>
          <a:bodyPr wrap="square" lIns="0" rIns="0" tIns="0" bIns="0" anchor="ctr"/>
          <a:lstStyle/>
          <a:p>
            <a:pPr algn="ctr">
              <a:lnSpc>
                <a:spcPct val="105000"/>
              </a:lnSpc>
              <a:spcBef>
                <a:spcPts val="0"/>
              </a:spcBef>
              <a:spcAft>
                <a:spcPts val="0"/>
              </a:spcAft>
            </a:pPr>
            <a:r>
              <a:rPr sz="900" b="1" i="0">
                <a:solidFill>
                  <a:srgbClr val="44505A"/>
                </a:solidFill>
                <a:latin typeface="Libre Franklin"/>
              </a:rPr>
              <a:t>Stop, or repeat</a:t>
            </a:r>
          </a:p>
        </p:txBody>
      </p:sp>
      <p:sp>
        <p:nvSpPr>
          <p:cNvPr id="97" name="Rectangle 96"/>
          <p:cNvSpPr/>
          <p:nvPr/>
        </p:nvSpPr>
        <p:spPr>
          <a:xfrm>
            <a:off x="0" y="4855464"/>
            <a:ext cx="9144000" cy="10973"/>
          </a:xfrm>
          <a:prstGeom prst="rect">
            <a:avLst/>
          </a:prstGeom>
          <a:solidFill>
            <a:srgbClr val="DCE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TextBox 97"/>
          <p:cNvSpPr txBox="1"/>
          <p:nvPr/>
        </p:nvSpPr>
        <p:spPr>
          <a:xfrm>
            <a:off x="384048" y="4914900"/>
            <a:ext cx="3291840" cy="182880"/>
          </a:xfrm>
          <a:prstGeom prst="rect">
            <a:avLst/>
          </a:prstGeom>
          <a:noFill/>
        </p:spPr>
        <p:txBody>
          <a:bodyPr wrap="square" lIns="0" rIns="0" tIns="0" bIns="0" anchor="t"/>
          <a:lstStyle/>
          <a:p>
            <a:pPr algn="l">
              <a:lnSpc>
                <a:spcPct val="100000"/>
              </a:lnSpc>
              <a:spcBef>
                <a:spcPts val="0"/>
              </a:spcBef>
              <a:spcAft>
                <a:spcPts val="0"/>
              </a:spcAft>
            </a:pPr>
            <a:r>
              <a:rPr sz="900" b="1" i="0" spc="50">
                <a:solidFill>
                  <a:srgbClr val="97A1A8"/>
                </a:solidFill>
                <a:latin typeface="Libre Franklin"/>
              </a:rPr>
              <a:t>M#26  ·  P05  ·  TEAM MOSSAD.EXE</a:t>
            </a:r>
          </a:p>
        </p:txBody>
      </p:sp>
      <p:sp>
        <p:nvSpPr>
          <p:cNvPr id="99" name="TextBox 98"/>
          <p:cNvSpPr txBox="1"/>
          <p:nvPr/>
        </p:nvSpPr>
        <p:spPr>
          <a:xfrm>
            <a:off x="3685032" y="4914900"/>
            <a:ext cx="4773168" cy="182880"/>
          </a:xfrm>
          <a:prstGeom prst="rect">
            <a:avLst/>
          </a:prstGeom>
          <a:noFill/>
        </p:spPr>
        <p:txBody>
          <a:bodyPr wrap="square" lIns="0" rIns="0" tIns="0" bIns="0" anchor="t"/>
          <a:lstStyle/>
          <a:p>
            <a:pPr algn="r">
              <a:lnSpc>
                <a:spcPct val="100000"/>
              </a:lnSpc>
              <a:spcBef>
                <a:spcPts val="0"/>
              </a:spcBef>
              <a:spcAft>
                <a:spcPts val="0"/>
              </a:spcAft>
            </a:pPr>
            <a:r>
              <a:rPr sz="900" b="0" i="0" spc="20">
                <a:solidFill>
                  <a:srgbClr val="97A1A8"/>
                </a:solidFill>
                <a:latin typeface="Libre Franklin"/>
              </a:rPr>
              <a:t>Everything above is computed, not illustrated.</a:t>
            </a:r>
          </a:p>
        </p:txBody>
      </p:sp>
      <p:sp>
        <p:nvSpPr>
          <p:cNvPr id="100" name="TextBox 99"/>
          <p:cNvSpPr txBox="1"/>
          <p:nvPr/>
        </p:nvSpPr>
        <p:spPr>
          <a:xfrm>
            <a:off x="8467344" y="4905756"/>
            <a:ext cx="292608" cy="201168"/>
          </a:xfrm>
          <a:prstGeom prst="rect">
            <a:avLst/>
          </a:prstGeom>
          <a:noFill/>
        </p:spPr>
        <p:txBody>
          <a:bodyPr wrap="square" lIns="0" rIns="0" tIns="0" bIns="0" anchor="t"/>
          <a:lstStyle/>
          <a:p>
            <a:pPr algn="r">
              <a:lnSpc>
                <a:spcPct val="100000"/>
              </a:lnSpc>
              <a:spcBef>
                <a:spcPts val="0"/>
              </a:spcBef>
              <a:spcAft>
                <a:spcPts val="0"/>
              </a:spcAft>
            </a:pPr>
            <a:r>
              <a:rPr sz="1100" b="1" i="0">
                <a:solidFill>
                  <a:srgbClr val="5F6A72"/>
                </a:solidFill>
                <a:latin typeface="Source Serif 4"/>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9144000" cy="73152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31520"/>
            <a:ext cx="9144000" cy="12802"/>
          </a:xfrm>
          <a:prstGeom prst="rect">
            <a:avLst/>
          </a:prstGeom>
          <a:solidFill>
            <a:srgbClr val="DCE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731520"/>
            <a:ext cx="1481328" cy="12802"/>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384048" y="224028"/>
            <a:ext cx="54864" cy="288036"/>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48640" y="205740"/>
            <a:ext cx="2103120" cy="256032"/>
          </a:xfrm>
          <a:prstGeom prst="rect">
            <a:avLst/>
          </a:prstGeom>
          <a:noFill/>
        </p:spPr>
        <p:txBody>
          <a:bodyPr wrap="square" lIns="0" rIns="0" tIns="0" bIns="0" anchor="t"/>
          <a:lstStyle/>
          <a:p>
            <a:pPr algn="l">
              <a:lnSpc>
                <a:spcPct val="100000"/>
              </a:lnSpc>
              <a:spcBef>
                <a:spcPts val="0"/>
              </a:spcBef>
              <a:spcAft>
                <a:spcPts val="0"/>
              </a:spcAft>
            </a:pPr>
            <a:r>
              <a:rPr sz="1700" b="1" i="0" spc="120">
                <a:solidFill>
                  <a:srgbClr val="14181B"/>
                </a:solidFill>
                <a:latin typeface="Source Serif 4"/>
              </a:rPr>
              <a:t>DOMINO</a:t>
            </a:r>
          </a:p>
        </p:txBody>
      </p:sp>
      <p:sp>
        <p:nvSpPr>
          <p:cNvPr id="8" name="Rectangle 7"/>
          <p:cNvSpPr/>
          <p:nvPr/>
        </p:nvSpPr>
        <p:spPr>
          <a:xfrm>
            <a:off x="2148840" y="182880"/>
            <a:ext cx="7315" cy="365760"/>
          </a:xfrm>
          <a:prstGeom prst="rect">
            <a:avLst/>
          </a:prstGeom>
          <a:solidFill>
            <a:srgbClr val="BCC5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2377440" y="214884"/>
            <a:ext cx="5715000" cy="310896"/>
          </a:xfrm>
          <a:prstGeom prst="rect">
            <a:avLst/>
          </a:prstGeom>
          <a:noFill/>
        </p:spPr>
        <p:txBody>
          <a:bodyPr wrap="square" lIns="0" rIns="0" tIns="0" bIns="0" anchor="t"/>
          <a:lstStyle/>
          <a:p>
            <a:pPr algn="l">
              <a:lnSpc>
                <a:spcPct val="100000"/>
              </a:lnSpc>
              <a:spcBef>
                <a:spcPts val="0"/>
              </a:spcBef>
              <a:spcAft>
                <a:spcPts val="0"/>
              </a:spcAft>
            </a:pPr>
            <a:r>
              <a:rPr sz="1900" b="1" i="0" spc="-20">
                <a:solidFill>
                  <a:srgbClr val="14181B"/>
                </a:solidFill>
                <a:latin typeface="Source Serif 4"/>
              </a:rPr>
              <a:t>Technical Implementation</a:t>
            </a:r>
          </a:p>
        </p:txBody>
      </p:sp>
      <p:pic>
        <p:nvPicPr>
          <p:cNvPr id="10" name="Picture 9" descr="logo_m26.png"/>
          <p:cNvPicPr>
            <a:picLocks noChangeAspect="1"/>
          </p:cNvPicPr>
          <p:nvPr/>
        </p:nvPicPr>
        <p:blipFill>
          <a:blip r:embed="rId2"/>
          <a:stretch>
            <a:fillRect/>
          </a:stretch>
        </p:blipFill>
        <p:spPr>
          <a:xfrm>
            <a:off x="8250689" y="91440"/>
            <a:ext cx="640080" cy="475453"/>
          </a:xfrm>
          <a:prstGeom prst="rect">
            <a:avLst/>
          </a:prstGeom>
        </p:spPr>
      </p:pic>
      <p:sp>
        <p:nvSpPr>
          <p:cNvPr id="11" name="TextBox 10"/>
          <p:cNvSpPr txBox="1"/>
          <p:nvPr/>
        </p:nvSpPr>
        <p:spPr>
          <a:xfrm>
            <a:off x="384048" y="841248"/>
            <a:ext cx="5486400" cy="201168"/>
          </a:xfrm>
          <a:prstGeom prst="rect">
            <a:avLst/>
          </a:prstGeom>
          <a:noFill/>
        </p:spPr>
        <p:txBody>
          <a:bodyPr wrap="square" lIns="0" rIns="0" tIns="0" bIns="0" anchor="t"/>
          <a:lstStyle/>
          <a:p>
            <a:pPr algn="l">
              <a:lnSpc>
                <a:spcPct val="100000"/>
              </a:lnSpc>
              <a:spcBef>
                <a:spcPts val="0"/>
              </a:spcBef>
              <a:spcAft>
                <a:spcPts val="0"/>
              </a:spcAft>
            </a:pPr>
            <a:r>
              <a:rPr sz="950" b="1" i="0" spc="80">
                <a:solidFill>
                  <a:srgbClr val="5F6A72"/>
                </a:solidFill>
                <a:latin typeface="Libre Franklin"/>
              </a:rPr>
              <a:t>OUR PROTOTYPE, RUNNING — NOT A MOCK-UP</a:t>
            </a:r>
          </a:p>
        </p:txBody>
      </p:sp>
      <p:pic>
        <p:nvPicPr>
          <p:cNvPr id="12" name="Picture 11" descr="demo1.png"/>
          <p:cNvPicPr>
            <a:picLocks noChangeAspect="1"/>
          </p:cNvPicPr>
          <p:nvPr/>
        </p:nvPicPr>
        <p:blipFill>
          <a:blip r:embed="rId3"/>
          <a:stretch>
            <a:fillRect/>
          </a:stretch>
        </p:blipFill>
        <p:spPr>
          <a:xfrm>
            <a:off x="384048" y="1078992"/>
            <a:ext cx="5120640" cy="3661533"/>
          </a:xfrm>
          <a:prstGeom prst="rect">
            <a:avLst/>
          </a:prstGeom>
        </p:spPr>
      </p:pic>
      <p:sp>
        <p:nvSpPr>
          <p:cNvPr id="13" name="TextBox 12"/>
          <p:cNvSpPr txBox="1"/>
          <p:nvPr/>
        </p:nvSpPr>
        <p:spPr>
          <a:xfrm>
            <a:off x="5614416" y="841248"/>
            <a:ext cx="3145536" cy="201168"/>
          </a:xfrm>
          <a:prstGeom prst="rect">
            <a:avLst/>
          </a:prstGeom>
          <a:noFill/>
        </p:spPr>
        <p:txBody>
          <a:bodyPr wrap="square" lIns="0" rIns="0" tIns="0" bIns="0" anchor="t"/>
          <a:lstStyle/>
          <a:p>
            <a:pPr algn="l">
              <a:lnSpc>
                <a:spcPct val="100000"/>
              </a:lnSpc>
              <a:spcBef>
                <a:spcPts val="0"/>
              </a:spcBef>
              <a:spcAft>
                <a:spcPts val="0"/>
              </a:spcAft>
            </a:pPr>
            <a:r>
              <a:rPr sz="950" b="1" i="0" spc="80">
                <a:solidFill>
                  <a:srgbClr val="5F6A72"/>
                </a:solidFill>
                <a:latin typeface="Libre Franklin"/>
              </a:rPr>
              <a:t>THE STACK</a:t>
            </a:r>
          </a:p>
        </p:txBody>
      </p:sp>
      <p:sp>
        <p:nvSpPr>
          <p:cNvPr id="14" name="Rectangle 13"/>
          <p:cNvSpPr/>
          <p:nvPr/>
        </p:nvSpPr>
        <p:spPr>
          <a:xfrm>
            <a:off x="5614416" y="1078992"/>
            <a:ext cx="3145536" cy="310896"/>
          </a:xfrm>
          <a:prstGeom prst="rect">
            <a:avLst/>
          </a:prstGeom>
          <a:solidFill>
            <a:srgbClr val="FAFBFC">
              <a:alpha val="100000"/>
            </a:srgbClr>
          </a:solidFill>
          <a:ln w="10160">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614416" y="1078992"/>
            <a:ext cx="41148" cy="310896"/>
          </a:xfrm>
          <a:prstGeom prst="rect">
            <a:avLst/>
          </a:prstGeom>
          <a:solidFill>
            <a:srgbClr val="5F6A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db_a3df3178cf8e.png"/>
          <p:cNvPicPr>
            <a:picLocks noChangeAspect="1"/>
          </p:cNvPicPr>
          <p:nvPr/>
        </p:nvPicPr>
        <p:blipFill>
          <a:blip r:embed="rId4"/>
          <a:stretch>
            <a:fillRect/>
          </a:stretch>
        </p:blipFill>
        <p:spPr>
          <a:xfrm>
            <a:off x="5742432" y="1147572"/>
            <a:ext cx="173736" cy="173736"/>
          </a:xfrm>
          <a:prstGeom prst="rect">
            <a:avLst/>
          </a:prstGeom>
        </p:spPr>
      </p:pic>
      <p:sp>
        <p:nvSpPr>
          <p:cNvPr id="17" name="TextBox 16"/>
          <p:cNvSpPr txBox="1"/>
          <p:nvPr/>
        </p:nvSpPr>
        <p:spPr>
          <a:xfrm>
            <a:off x="5998464" y="1110996"/>
            <a:ext cx="1828800" cy="182880"/>
          </a:xfrm>
          <a:prstGeom prst="rect">
            <a:avLst/>
          </a:prstGeom>
          <a:noFill/>
        </p:spPr>
        <p:txBody>
          <a:bodyPr wrap="square" lIns="0" rIns="0" tIns="0" bIns="0" anchor="t"/>
          <a:lstStyle/>
          <a:p>
            <a:pPr algn="l">
              <a:lnSpc>
                <a:spcPct val="100000"/>
              </a:lnSpc>
              <a:spcBef>
                <a:spcPts val="0"/>
              </a:spcBef>
              <a:spcAft>
                <a:spcPts val="0"/>
              </a:spcAft>
            </a:pPr>
            <a:r>
              <a:rPr sz="950" b="1" i="0">
                <a:solidFill>
                  <a:srgbClr val="14181B"/>
                </a:solidFill>
                <a:latin typeface="Source Serif 4"/>
              </a:rPr>
              <a:t>WorldPop + OpenStreetMap</a:t>
            </a:r>
          </a:p>
        </p:txBody>
      </p:sp>
      <p:sp>
        <p:nvSpPr>
          <p:cNvPr id="18" name="TextBox 17"/>
          <p:cNvSpPr txBox="1"/>
          <p:nvPr/>
        </p:nvSpPr>
        <p:spPr>
          <a:xfrm>
            <a:off x="5998464" y="1257300"/>
            <a:ext cx="2688336" cy="146304"/>
          </a:xfrm>
          <a:prstGeom prst="rect">
            <a:avLst/>
          </a:prstGeom>
          <a:noFill/>
        </p:spPr>
        <p:txBody>
          <a:bodyPr wrap="square" lIns="0" rIns="0" tIns="0" bIns="0" anchor="t"/>
          <a:lstStyle/>
          <a:p>
            <a:pPr algn="l">
              <a:lnSpc>
                <a:spcPct val="100000"/>
              </a:lnSpc>
              <a:spcBef>
                <a:spcPts val="0"/>
              </a:spcBef>
              <a:spcAft>
                <a:spcPts val="0"/>
              </a:spcAft>
            </a:pPr>
            <a:r>
              <a:rPr sz="850" b="0" i="0">
                <a:solidFill>
                  <a:srgbClr val="97A1A8"/>
                </a:solidFill>
                <a:latin typeface="Libre Franklin"/>
              </a:rPr>
              <a:t>data</a:t>
            </a:r>
          </a:p>
        </p:txBody>
      </p:sp>
      <p:sp>
        <p:nvSpPr>
          <p:cNvPr id="19" name="Rectangle 18"/>
          <p:cNvSpPr/>
          <p:nvPr/>
        </p:nvSpPr>
        <p:spPr>
          <a:xfrm>
            <a:off x="5614416" y="1444752"/>
            <a:ext cx="3145536" cy="310896"/>
          </a:xfrm>
          <a:prstGeom prst="rect">
            <a:avLst/>
          </a:prstGeom>
          <a:solidFill>
            <a:srgbClr val="FAFBFC">
              <a:alpha val="100000"/>
            </a:srgbClr>
          </a:solidFill>
          <a:ln w="10160">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5614416" y="1444752"/>
            <a:ext cx="41148" cy="310896"/>
          </a:xfrm>
          <a:prstGeom prst="rect">
            <a:avLst/>
          </a:prstGeom>
          <a:solidFill>
            <a:srgbClr val="5F6A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layers_a6607773fa67.png"/>
          <p:cNvPicPr>
            <a:picLocks noChangeAspect="1"/>
          </p:cNvPicPr>
          <p:nvPr/>
        </p:nvPicPr>
        <p:blipFill>
          <a:blip r:embed="rId5"/>
          <a:stretch>
            <a:fillRect/>
          </a:stretch>
        </p:blipFill>
        <p:spPr>
          <a:xfrm>
            <a:off x="5742432" y="1513332"/>
            <a:ext cx="173736" cy="173736"/>
          </a:xfrm>
          <a:prstGeom prst="rect">
            <a:avLst/>
          </a:prstGeom>
        </p:spPr>
      </p:pic>
      <p:sp>
        <p:nvSpPr>
          <p:cNvPr id="22" name="TextBox 21"/>
          <p:cNvSpPr txBox="1"/>
          <p:nvPr/>
        </p:nvSpPr>
        <p:spPr>
          <a:xfrm>
            <a:off x="5998464" y="1476756"/>
            <a:ext cx="1828800" cy="182880"/>
          </a:xfrm>
          <a:prstGeom prst="rect">
            <a:avLst/>
          </a:prstGeom>
          <a:noFill/>
        </p:spPr>
        <p:txBody>
          <a:bodyPr wrap="square" lIns="0" rIns="0" tIns="0" bIns="0" anchor="t"/>
          <a:lstStyle/>
          <a:p>
            <a:pPr algn="l">
              <a:lnSpc>
                <a:spcPct val="100000"/>
              </a:lnSpc>
              <a:spcBef>
                <a:spcPts val="0"/>
              </a:spcBef>
              <a:spcAft>
                <a:spcPts val="0"/>
              </a:spcAft>
            </a:pPr>
            <a:r>
              <a:rPr sz="950" b="1" i="0">
                <a:solidFill>
                  <a:srgbClr val="14181B"/>
                </a:solidFill>
                <a:latin typeface="Source Serif 4"/>
              </a:rPr>
              <a:t>PostGIS</a:t>
            </a:r>
          </a:p>
        </p:txBody>
      </p:sp>
      <p:sp>
        <p:nvSpPr>
          <p:cNvPr id="23" name="TextBox 22"/>
          <p:cNvSpPr txBox="1"/>
          <p:nvPr/>
        </p:nvSpPr>
        <p:spPr>
          <a:xfrm>
            <a:off x="5998464" y="1623060"/>
            <a:ext cx="2688336" cy="146304"/>
          </a:xfrm>
          <a:prstGeom prst="rect">
            <a:avLst/>
          </a:prstGeom>
          <a:noFill/>
        </p:spPr>
        <p:txBody>
          <a:bodyPr wrap="square" lIns="0" rIns="0" tIns="0" bIns="0" anchor="t"/>
          <a:lstStyle/>
          <a:p>
            <a:pPr algn="l">
              <a:lnSpc>
                <a:spcPct val="100000"/>
              </a:lnSpc>
              <a:spcBef>
                <a:spcPts val="0"/>
              </a:spcBef>
              <a:spcAft>
                <a:spcPts val="0"/>
              </a:spcAft>
            </a:pPr>
            <a:r>
              <a:rPr sz="850" b="0" i="0">
                <a:solidFill>
                  <a:srgbClr val="97A1A8"/>
                </a:solidFill>
                <a:latin typeface="Libre Franklin"/>
              </a:rPr>
              <a:t>spatial store</a:t>
            </a:r>
          </a:p>
        </p:txBody>
      </p:sp>
      <p:sp>
        <p:nvSpPr>
          <p:cNvPr id="24" name="Rectangle 23"/>
          <p:cNvSpPr/>
          <p:nvPr/>
        </p:nvSpPr>
        <p:spPr>
          <a:xfrm>
            <a:off x="5614416" y="1810512"/>
            <a:ext cx="3145536" cy="310896"/>
          </a:xfrm>
          <a:prstGeom prst="rect">
            <a:avLst/>
          </a:prstGeom>
          <a:solidFill>
            <a:srgbClr val="FAFBFC">
              <a:alpha val="100000"/>
            </a:srgbClr>
          </a:solidFill>
          <a:ln w="10160">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614416" y="1810512"/>
            <a:ext cx="41148" cy="310896"/>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6" name="Picture 25" descr="graph_05ae55f5dedf.png"/>
          <p:cNvPicPr>
            <a:picLocks noChangeAspect="1"/>
          </p:cNvPicPr>
          <p:nvPr/>
        </p:nvPicPr>
        <p:blipFill>
          <a:blip r:embed="rId6"/>
          <a:stretch>
            <a:fillRect/>
          </a:stretch>
        </p:blipFill>
        <p:spPr>
          <a:xfrm>
            <a:off x="5742432" y="1879092"/>
            <a:ext cx="173736" cy="173736"/>
          </a:xfrm>
          <a:prstGeom prst="rect">
            <a:avLst/>
          </a:prstGeom>
        </p:spPr>
      </p:pic>
      <p:sp>
        <p:nvSpPr>
          <p:cNvPr id="27" name="TextBox 26"/>
          <p:cNvSpPr txBox="1"/>
          <p:nvPr/>
        </p:nvSpPr>
        <p:spPr>
          <a:xfrm>
            <a:off x="5998464" y="1842516"/>
            <a:ext cx="1828800" cy="182880"/>
          </a:xfrm>
          <a:prstGeom prst="rect">
            <a:avLst/>
          </a:prstGeom>
          <a:noFill/>
        </p:spPr>
        <p:txBody>
          <a:bodyPr wrap="square" lIns="0" rIns="0" tIns="0" bIns="0" anchor="t"/>
          <a:lstStyle/>
          <a:p>
            <a:pPr algn="l">
              <a:lnSpc>
                <a:spcPct val="100000"/>
              </a:lnSpc>
              <a:spcBef>
                <a:spcPts val="0"/>
              </a:spcBef>
              <a:spcAft>
                <a:spcPts val="0"/>
              </a:spcAft>
            </a:pPr>
            <a:r>
              <a:rPr sz="950" b="1" i="0">
                <a:solidFill>
                  <a:srgbClr val="14181B"/>
                </a:solidFill>
                <a:latin typeface="Source Serif 4"/>
              </a:rPr>
              <a:t>NetworkX + Dijkstra</a:t>
            </a:r>
          </a:p>
        </p:txBody>
      </p:sp>
      <p:sp>
        <p:nvSpPr>
          <p:cNvPr id="28" name="TextBox 27"/>
          <p:cNvSpPr txBox="1"/>
          <p:nvPr/>
        </p:nvSpPr>
        <p:spPr>
          <a:xfrm>
            <a:off x="5998464" y="1988820"/>
            <a:ext cx="2688336" cy="146304"/>
          </a:xfrm>
          <a:prstGeom prst="rect">
            <a:avLst/>
          </a:prstGeom>
          <a:noFill/>
        </p:spPr>
        <p:txBody>
          <a:bodyPr wrap="square" lIns="0" rIns="0" tIns="0" bIns="0" anchor="t"/>
          <a:lstStyle/>
          <a:p>
            <a:pPr algn="l">
              <a:lnSpc>
                <a:spcPct val="100000"/>
              </a:lnSpc>
              <a:spcBef>
                <a:spcPts val="0"/>
              </a:spcBef>
              <a:spcAft>
                <a:spcPts val="0"/>
              </a:spcAft>
            </a:pPr>
            <a:r>
              <a:rPr sz="850" b="0" i="0">
                <a:solidFill>
                  <a:srgbClr val="97A1A8"/>
                </a:solidFill>
                <a:latin typeface="Libre Franklin"/>
              </a:rPr>
              <a:t>routing and reassignment</a:t>
            </a:r>
          </a:p>
        </p:txBody>
      </p:sp>
      <p:sp>
        <p:nvSpPr>
          <p:cNvPr id="29" name="Rectangle 28"/>
          <p:cNvSpPr/>
          <p:nvPr/>
        </p:nvSpPr>
        <p:spPr>
          <a:xfrm>
            <a:off x="5614416" y="2176272"/>
            <a:ext cx="3145536" cy="310896"/>
          </a:xfrm>
          <a:prstGeom prst="rect">
            <a:avLst/>
          </a:prstGeom>
          <a:solidFill>
            <a:srgbClr val="FAFBFC">
              <a:alpha val="100000"/>
            </a:srgbClr>
          </a:solidFill>
          <a:ln w="10160">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5614416" y="2176272"/>
            <a:ext cx="41148" cy="310896"/>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target_7677e13b2e46.png"/>
          <p:cNvPicPr>
            <a:picLocks noChangeAspect="1"/>
          </p:cNvPicPr>
          <p:nvPr/>
        </p:nvPicPr>
        <p:blipFill>
          <a:blip r:embed="rId7"/>
          <a:stretch>
            <a:fillRect/>
          </a:stretch>
        </p:blipFill>
        <p:spPr>
          <a:xfrm>
            <a:off x="5742432" y="2244852"/>
            <a:ext cx="173736" cy="173736"/>
          </a:xfrm>
          <a:prstGeom prst="rect">
            <a:avLst/>
          </a:prstGeom>
        </p:spPr>
      </p:pic>
      <p:sp>
        <p:nvSpPr>
          <p:cNvPr id="32" name="TextBox 31"/>
          <p:cNvSpPr txBox="1"/>
          <p:nvPr/>
        </p:nvSpPr>
        <p:spPr>
          <a:xfrm>
            <a:off x="5998464" y="2208276"/>
            <a:ext cx="1828800" cy="182880"/>
          </a:xfrm>
          <a:prstGeom prst="rect">
            <a:avLst/>
          </a:prstGeom>
          <a:noFill/>
        </p:spPr>
        <p:txBody>
          <a:bodyPr wrap="square" lIns="0" rIns="0" tIns="0" bIns="0" anchor="t"/>
          <a:lstStyle/>
          <a:p>
            <a:pPr algn="l">
              <a:lnSpc>
                <a:spcPct val="100000"/>
              </a:lnSpc>
              <a:spcBef>
                <a:spcPts val="0"/>
              </a:spcBef>
              <a:spcAft>
                <a:spcPts val="0"/>
              </a:spcAft>
            </a:pPr>
            <a:r>
              <a:rPr sz="950" b="1" i="0">
                <a:solidFill>
                  <a:srgbClr val="14181B"/>
                </a:solidFill>
                <a:latin typeface="Source Serif 4"/>
              </a:rPr>
              <a:t>Domino detector</a:t>
            </a:r>
          </a:p>
        </p:txBody>
      </p:sp>
      <p:sp>
        <p:nvSpPr>
          <p:cNvPr id="33" name="TextBox 32"/>
          <p:cNvSpPr txBox="1"/>
          <p:nvPr/>
        </p:nvSpPr>
        <p:spPr>
          <a:xfrm>
            <a:off x="5998464" y="2354580"/>
            <a:ext cx="2688336" cy="146304"/>
          </a:xfrm>
          <a:prstGeom prst="rect">
            <a:avLst/>
          </a:prstGeom>
          <a:noFill/>
        </p:spPr>
        <p:txBody>
          <a:bodyPr wrap="square" lIns="0" rIns="0" tIns="0" bIns="0" anchor="t"/>
          <a:lstStyle/>
          <a:p>
            <a:pPr algn="l">
              <a:lnSpc>
                <a:spcPct val="100000"/>
              </a:lnSpc>
              <a:spcBef>
                <a:spcPts val="0"/>
              </a:spcBef>
              <a:spcAft>
                <a:spcPts val="0"/>
              </a:spcAft>
            </a:pPr>
            <a:r>
              <a:rPr sz="850" b="0" i="0">
                <a:solidFill>
                  <a:srgbClr val="97A1A8"/>
                </a:solidFill>
                <a:latin typeface="Libre Franklin"/>
              </a:rPr>
              <a:t>four-part score</a:t>
            </a:r>
          </a:p>
        </p:txBody>
      </p:sp>
      <p:sp>
        <p:nvSpPr>
          <p:cNvPr id="34" name="Rectangle 33"/>
          <p:cNvSpPr/>
          <p:nvPr/>
        </p:nvSpPr>
        <p:spPr>
          <a:xfrm>
            <a:off x="5614416" y="2542032"/>
            <a:ext cx="3145536" cy="310896"/>
          </a:xfrm>
          <a:prstGeom prst="rect">
            <a:avLst/>
          </a:prstGeom>
          <a:solidFill>
            <a:srgbClr val="FAFBFC">
              <a:alpha val="100000"/>
            </a:srgbClr>
          </a:solidFill>
          <a:ln w="10160">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5614416" y="2542032"/>
            <a:ext cx="41148" cy="310896"/>
          </a:xfrm>
          <a:prstGeom prst="rect">
            <a:avLst/>
          </a:prstGeom>
          <a:solidFill>
            <a:srgbClr val="0079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6" name="Picture 35" descr="shield_c4ae7b67b9a6.png"/>
          <p:cNvPicPr>
            <a:picLocks noChangeAspect="1"/>
          </p:cNvPicPr>
          <p:nvPr/>
        </p:nvPicPr>
        <p:blipFill>
          <a:blip r:embed="rId8"/>
          <a:stretch>
            <a:fillRect/>
          </a:stretch>
        </p:blipFill>
        <p:spPr>
          <a:xfrm>
            <a:off x="5742432" y="2610612"/>
            <a:ext cx="173736" cy="173736"/>
          </a:xfrm>
          <a:prstGeom prst="rect">
            <a:avLst/>
          </a:prstGeom>
        </p:spPr>
      </p:pic>
      <p:sp>
        <p:nvSpPr>
          <p:cNvPr id="37" name="TextBox 36"/>
          <p:cNvSpPr txBox="1"/>
          <p:nvPr/>
        </p:nvSpPr>
        <p:spPr>
          <a:xfrm>
            <a:off x="5998464" y="2574036"/>
            <a:ext cx="1828800" cy="182880"/>
          </a:xfrm>
          <a:prstGeom prst="rect">
            <a:avLst/>
          </a:prstGeom>
          <a:noFill/>
        </p:spPr>
        <p:txBody>
          <a:bodyPr wrap="square" lIns="0" rIns="0" tIns="0" bIns="0" anchor="t"/>
          <a:lstStyle/>
          <a:p>
            <a:pPr algn="l">
              <a:lnSpc>
                <a:spcPct val="100000"/>
              </a:lnSpc>
              <a:spcBef>
                <a:spcPts val="0"/>
              </a:spcBef>
              <a:spcAft>
                <a:spcPts val="0"/>
              </a:spcAft>
            </a:pPr>
            <a:r>
              <a:rPr sz="950" b="1" i="0">
                <a:solidFill>
                  <a:srgbClr val="14181B"/>
                </a:solidFill>
                <a:latin typeface="Source Serif 4"/>
              </a:rPr>
              <a:t>Intervention engine</a:t>
            </a:r>
          </a:p>
        </p:txBody>
      </p:sp>
      <p:sp>
        <p:nvSpPr>
          <p:cNvPr id="38" name="TextBox 37"/>
          <p:cNvSpPr txBox="1"/>
          <p:nvPr/>
        </p:nvSpPr>
        <p:spPr>
          <a:xfrm>
            <a:off x="5998464" y="2720340"/>
            <a:ext cx="2688336" cy="146304"/>
          </a:xfrm>
          <a:prstGeom prst="rect">
            <a:avLst/>
          </a:prstGeom>
          <a:noFill/>
        </p:spPr>
        <p:txBody>
          <a:bodyPr wrap="square" lIns="0" rIns="0" tIns="0" bIns="0" anchor="t"/>
          <a:lstStyle/>
          <a:p>
            <a:pPr algn="l">
              <a:lnSpc>
                <a:spcPct val="100000"/>
              </a:lnSpc>
              <a:spcBef>
                <a:spcPts val="0"/>
              </a:spcBef>
              <a:spcAft>
                <a:spcPts val="0"/>
              </a:spcAft>
            </a:pPr>
            <a:r>
              <a:rPr sz="850" b="0" i="0">
                <a:solidFill>
                  <a:srgbClr val="97A1A8"/>
                </a:solidFill>
                <a:latin typeface="Libre Franklin"/>
              </a:rPr>
              <a:t>counterfactual re-runs</a:t>
            </a:r>
          </a:p>
        </p:txBody>
      </p:sp>
      <p:sp>
        <p:nvSpPr>
          <p:cNvPr id="39" name="Rectangle 38"/>
          <p:cNvSpPr/>
          <p:nvPr/>
        </p:nvSpPr>
        <p:spPr>
          <a:xfrm>
            <a:off x="5614416" y="2907792"/>
            <a:ext cx="3145536" cy="310896"/>
          </a:xfrm>
          <a:prstGeom prst="rect">
            <a:avLst/>
          </a:prstGeom>
          <a:solidFill>
            <a:srgbClr val="FAFBFC">
              <a:alpha val="100000"/>
            </a:srgbClr>
          </a:solidFill>
          <a:ln w="10160">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5614416" y="2907792"/>
            <a:ext cx="41148" cy="310896"/>
          </a:xfrm>
          <a:prstGeom prst="rect">
            <a:avLst/>
          </a:prstGeom>
          <a:solidFill>
            <a:srgbClr val="5E35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1" name="Picture 40" descr="moon_032a98c044e2.png"/>
          <p:cNvPicPr>
            <a:picLocks noChangeAspect="1"/>
          </p:cNvPicPr>
          <p:nvPr/>
        </p:nvPicPr>
        <p:blipFill>
          <a:blip r:embed="rId9"/>
          <a:stretch>
            <a:fillRect/>
          </a:stretch>
        </p:blipFill>
        <p:spPr>
          <a:xfrm>
            <a:off x="5742432" y="2976372"/>
            <a:ext cx="173736" cy="173736"/>
          </a:xfrm>
          <a:prstGeom prst="rect">
            <a:avLst/>
          </a:prstGeom>
        </p:spPr>
      </p:pic>
      <p:sp>
        <p:nvSpPr>
          <p:cNvPr id="42" name="TextBox 41"/>
          <p:cNvSpPr txBox="1"/>
          <p:nvPr/>
        </p:nvSpPr>
        <p:spPr>
          <a:xfrm>
            <a:off x="5998464" y="2939796"/>
            <a:ext cx="1828800" cy="182880"/>
          </a:xfrm>
          <a:prstGeom prst="rect">
            <a:avLst/>
          </a:prstGeom>
          <a:noFill/>
        </p:spPr>
        <p:txBody>
          <a:bodyPr wrap="square" lIns="0" rIns="0" tIns="0" bIns="0" anchor="t"/>
          <a:lstStyle/>
          <a:p>
            <a:pPr algn="l">
              <a:lnSpc>
                <a:spcPct val="100000"/>
              </a:lnSpc>
              <a:spcBef>
                <a:spcPts val="0"/>
              </a:spcBef>
              <a:spcAft>
                <a:spcPts val="0"/>
              </a:spcAft>
            </a:pPr>
            <a:r>
              <a:rPr sz="950" b="1" i="0">
                <a:solidFill>
                  <a:srgbClr val="14181B"/>
                </a:solidFill>
                <a:latin typeface="Source Serif 4"/>
              </a:rPr>
              <a:t>Dark-zone engine</a:t>
            </a:r>
          </a:p>
        </p:txBody>
      </p:sp>
      <p:sp>
        <p:nvSpPr>
          <p:cNvPr id="43" name="TextBox 42"/>
          <p:cNvSpPr txBox="1"/>
          <p:nvPr/>
        </p:nvSpPr>
        <p:spPr>
          <a:xfrm>
            <a:off x="5998464" y="3086100"/>
            <a:ext cx="2688336" cy="146304"/>
          </a:xfrm>
          <a:prstGeom prst="rect">
            <a:avLst/>
          </a:prstGeom>
          <a:noFill/>
        </p:spPr>
        <p:txBody>
          <a:bodyPr wrap="square" lIns="0" rIns="0" tIns="0" bIns="0" anchor="t"/>
          <a:lstStyle/>
          <a:p>
            <a:pPr algn="l">
              <a:lnSpc>
                <a:spcPct val="100000"/>
              </a:lnSpc>
              <a:spcBef>
                <a:spcPts val="0"/>
              </a:spcBef>
              <a:spcAft>
                <a:spcPts val="0"/>
              </a:spcAft>
            </a:pPr>
            <a:r>
              <a:rPr sz="850" b="0" i="0">
                <a:solidFill>
                  <a:srgbClr val="97A1A8"/>
                </a:solidFill>
                <a:latin typeface="Libre Franklin"/>
              </a:rPr>
              <a:t>isolation and countdowns</a:t>
            </a:r>
          </a:p>
        </p:txBody>
      </p:sp>
      <p:sp>
        <p:nvSpPr>
          <p:cNvPr id="44" name="Rectangle 43"/>
          <p:cNvSpPr/>
          <p:nvPr/>
        </p:nvSpPr>
        <p:spPr>
          <a:xfrm>
            <a:off x="5614416" y="3273552"/>
            <a:ext cx="3145536" cy="310896"/>
          </a:xfrm>
          <a:prstGeom prst="rect">
            <a:avLst/>
          </a:prstGeom>
          <a:solidFill>
            <a:srgbClr val="FAFBFC">
              <a:alpha val="100000"/>
            </a:srgbClr>
          </a:solidFill>
          <a:ln w="10160">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5614416" y="3273552"/>
            <a:ext cx="41148" cy="310896"/>
          </a:xfrm>
          <a:prstGeom prst="rect">
            <a:avLst/>
          </a:prstGeom>
          <a:solidFill>
            <a:srgbClr val="5F6A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6" name="Picture 45" descr="map_d35f3d8c19c7.png"/>
          <p:cNvPicPr>
            <a:picLocks noChangeAspect="1"/>
          </p:cNvPicPr>
          <p:nvPr/>
        </p:nvPicPr>
        <p:blipFill>
          <a:blip r:embed="rId10"/>
          <a:stretch>
            <a:fillRect/>
          </a:stretch>
        </p:blipFill>
        <p:spPr>
          <a:xfrm>
            <a:off x="5742432" y="3342132"/>
            <a:ext cx="173736" cy="173736"/>
          </a:xfrm>
          <a:prstGeom prst="rect">
            <a:avLst/>
          </a:prstGeom>
        </p:spPr>
      </p:pic>
      <p:sp>
        <p:nvSpPr>
          <p:cNvPr id="47" name="TextBox 46"/>
          <p:cNvSpPr txBox="1"/>
          <p:nvPr/>
        </p:nvSpPr>
        <p:spPr>
          <a:xfrm>
            <a:off x="5998464" y="3305556"/>
            <a:ext cx="1828800" cy="182880"/>
          </a:xfrm>
          <a:prstGeom prst="rect">
            <a:avLst/>
          </a:prstGeom>
          <a:noFill/>
        </p:spPr>
        <p:txBody>
          <a:bodyPr wrap="square" lIns="0" rIns="0" tIns="0" bIns="0" anchor="t"/>
          <a:lstStyle/>
          <a:p>
            <a:pPr algn="l">
              <a:lnSpc>
                <a:spcPct val="100000"/>
              </a:lnSpc>
              <a:spcBef>
                <a:spcPts val="0"/>
              </a:spcBef>
              <a:spcAft>
                <a:spcPts val="0"/>
              </a:spcAft>
            </a:pPr>
            <a:r>
              <a:rPr sz="950" b="1" i="0">
                <a:solidFill>
                  <a:srgbClr val="14181B"/>
                </a:solidFill>
                <a:latin typeface="Source Serif 4"/>
              </a:rPr>
              <a:t>React map and alerts</a:t>
            </a:r>
          </a:p>
        </p:txBody>
      </p:sp>
      <p:sp>
        <p:nvSpPr>
          <p:cNvPr id="48" name="TextBox 47"/>
          <p:cNvSpPr txBox="1"/>
          <p:nvPr/>
        </p:nvSpPr>
        <p:spPr>
          <a:xfrm>
            <a:off x="5998464" y="3451860"/>
            <a:ext cx="2688336" cy="146304"/>
          </a:xfrm>
          <a:prstGeom prst="rect">
            <a:avLst/>
          </a:prstGeom>
          <a:noFill/>
        </p:spPr>
        <p:txBody>
          <a:bodyPr wrap="square" lIns="0" rIns="0" tIns="0" bIns="0" anchor="t"/>
          <a:lstStyle/>
          <a:p>
            <a:pPr algn="l">
              <a:lnSpc>
                <a:spcPct val="100000"/>
              </a:lnSpc>
              <a:spcBef>
                <a:spcPts val="0"/>
              </a:spcBef>
              <a:spcAft>
                <a:spcPts val="0"/>
              </a:spcAft>
            </a:pPr>
            <a:r>
              <a:rPr sz="850" b="0" i="0">
                <a:solidFill>
                  <a:srgbClr val="97A1A8"/>
                </a:solidFill>
                <a:latin typeface="Libre Franklin"/>
              </a:rPr>
              <a:t>what an operator sees</a:t>
            </a:r>
          </a:p>
        </p:txBody>
      </p:sp>
      <p:sp>
        <p:nvSpPr>
          <p:cNvPr id="49" name="Rectangle 48"/>
          <p:cNvSpPr/>
          <p:nvPr/>
        </p:nvSpPr>
        <p:spPr>
          <a:xfrm>
            <a:off x="5614416" y="3675888"/>
            <a:ext cx="3145536" cy="1060704"/>
          </a:xfrm>
          <a:prstGeom prst="rect">
            <a:avLst/>
          </a:prstGeom>
          <a:solidFill>
            <a:srgbClr val="FAFBFC">
              <a:alpha val="100000"/>
            </a:srgbClr>
          </a:solidFill>
          <a:ln w="9525">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5614416" y="3675888"/>
            <a:ext cx="45720" cy="1060704"/>
          </a:xfrm>
          <a:prstGeom prst="rect">
            <a:avLst/>
          </a:prstGeom>
          <a:solidFill>
            <a:srgbClr val="0079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5797296" y="3767328"/>
            <a:ext cx="2743200" cy="237744"/>
          </a:xfrm>
          <a:prstGeom prst="rect">
            <a:avLst/>
          </a:prstGeom>
          <a:noFill/>
        </p:spPr>
        <p:txBody>
          <a:bodyPr wrap="square" lIns="0" rIns="0" tIns="0" bIns="0" anchor="t"/>
          <a:lstStyle/>
          <a:p>
            <a:pPr algn="l">
              <a:lnSpc>
                <a:spcPct val="100000"/>
              </a:lnSpc>
              <a:spcBef>
                <a:spcPts val="0"/>
              </a:spcBef>
              <a:spcAft>
                <a:spcPts val="0"/>
              </a:spcAft>
            </a:pPr>
            <a:r>
              <a:rPr sz="1150" b="1" i="0">
                <a:solidFill>
                  <a:srgbClr val="00798A"/>
                </a:solidFill>
                <a:latin typeface="Source Serif 4"/>
              </a:rPr>
              <a:t>Real, and honestly scoped</a:t>
            </a:r>
          </a:p>
        </p:txBody>
      </p:sp>
      <p:sp>
        <p:nvSpPr>
          <p:cNvPr id="52" name="TextBox 51"/>
          <p:cNvSpPr txBox="1"/>
          <p:nvPr/>
        </p:nvSpPr>
        <p:spPr>
          <a:xfrm>
            <a:off x="5797296" y="4005072"/>
            <a:ext cx="2779776" cy="676656"/>
          </a:xfrm>
          <a:prstGeom prst="rect">
            <a:avLst/>
          </a:prstGeom>
          <a:noFill/>
        </p:spPr>
        <p:txBody>
          <a:bodyPr wrap="square" lIns="0" rIns="0" tIns="0" bIns="0" anchor="t"/>
          <a:lstStyle/>
          <a:p>
            <a:pPr algn="l">
              <a:lnSpc>
                <a:spcPct val="115999"/>
              </a:lnSpc>
              <a:spcBef>
                <a:spcPts val="0"/>
              </a:spcBef>
              <a:spcAft>
                <a:spcPts val="0"/>
              </a:spcAft>
            </a:pPr>
            <a:r>
              <a:rPr sz="880" b="0" i="0">
                <a:solidFill>
                  <a:srgbClr val="44505A"/>
                </a:solidFill>
                <a:latin typeface="Libre Franklin"/>
              </a:rPr>
              <a:t>Real: routing, reassignment, the score, the counterfactuals, 17 failures and 5 budgets precomputed. Synthetic: the corridor itself. A live OSM extract replaces one loader function.</a:t>
            </a:r>
          </a:p>
        </p:txBody>
      </p:sp>
      <p:sp>
        <p:nvSpPr>
          <p:cNvPr id="53" name="Rectangle 52"/>
          <p:cNvSpPr/>
          <p:nvPr/>
        </p:nvSpPr>
        <p:spPr>
          <a:xfrm>
            <a:off x="0" y="4855464"/>
            <a:ext cx="9144000" cy="10973"/>
          </a:xfrm>
          <a:prstGeom prst="rect">
            <a:avLst/>
          </a:prstGeom>
          <a:solidFill>
            <a:srgbClr val="DCE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384048" y="4914900"/>
            <a:ext cx="3291840" cy="182880"/>
          </a:xfrm>
          <a:prstGeom prst="rect">
            <a:avLst/>
          </a:prstGeom>
          <a:noFill/>
        </p:spPr>
        <p:txBody>
          <a:bodyPr wrap="square" lIns="0" rIns="0" tIns="0" bIns="0" anchor="t"/>
          <a:lstStyle/>
          <a:p>
            <a:pPr algn="l">
              <a:lnSpc>
                <a:spcPct val="100000"/>
              </a:lnSpc>
              <a:spcBef>
                <a:spcPts val="0"/>
              </a:spcBef>
              <a:spcAft>
                <a:spcPts val="0"/>
              </a:spcAft>
            </a:pPr>
            <a:r>
              <a:rPr sz="900" b="1" i="0" spc="50">
                <a:solidFill>
                  <a:srgbClr val="97A1A8"/>
                </a:solidFill>
                <a:latin typeface="Libre Franklin"/>
              </a:rPr>
              <a:t>M#26  ·  P05  ·  TEAM MOSSAD.EXE</a:t>
            </a:r>
          </a:p>
        </p:txBody>
      </p:sp>
      <p:sp>
        <p:nvSpPr>
          <p:cNvPr id="55" name="TextBox 54"/>
          <p:cNvSpPr txBox="1"/>
          <p:nvPr/>
        </p:nvSpPr>
        <p:spPr>
          <a:xfrm>
            <a:off x="3685032" y="4914900"/>
            <a:ext cx="4773168" cy="182880"/>
          </a:xfrm>
          <a:prstGeom prst="rect">
            <a:avLst/>
          </a:prstGeom>
          <a:noFill/>
        </p:spPr>
        <p:txBody>
          <a:bodyPr wrap="square" lIns="0" rIns="0" tIns="0" bIns="0" anchor="t"/>
          <a:lstStyle/>
          <a:p>
            <a:pPr algn="r">
              <a:lnSpc>
                <a:spcPct val="100000"/>
              </a:lnSpc>
              <a:spcBef>
                <a:spcPts val="0"/>
              </a:spcBef>
              <a:spcAft>
                <a:spcPts val="0"/>
              </a:spcAft>
            </a:pPr>
            <a:r>
              <a:rPr sz="900" b="0" i="0" spc="20">
                <a:solidFill>
                  <a:srgbClr val="97A1A8"/>
                </a:solidFill>
                <a:latin typeface="Libre Franklin"/>
              </a:rPr>
              <a:t>Open it, click any road, and it recomputes.</a:t>
            </a:r>
          </a:p>
        </p:txBody>
      </p:sp>
      <p:sp>
        <p:nvSpPr>
          <p:cNvPr id="56" name="TextBox 55"/>
          <p:cNvSpPr txBox="1"/>
          <p:nvPr/>
        </p:nvSpPr>
        <p:spPr>
          <a:xfrm>
            <a:off x="8467344" y="4905756"/>
            <a:ext cx="292608" cy="201168"/>
          </a:xfrm>
          <a:prstGeom prst="rect">
            <a:avLst/>
          </a:prstGeom>
          <a:noFill/>
        </p:spPr>
        <p:txBody>
          <a:bodyPr wrap="square" lIns="0" rIns="0" tIns="0" bIns="0" anchor="t"/>
          <a:lstStyle/>
          <a:p>
            <a:pPr algn="r">
              <a:lnSpc>
                <a:spcPct val="100000"/>
              </a:lnSpc>
              <a:spcBef>
                <a:spcPts val="0"/>
              </a:spcBef>
              <a:spcAft>
                <a:spcPts val="0"/>
              </a:spcAft>
            </a:pPr>
            <a:r>
              <a:rPr sz="1100" b="1" i="0">
                <a:solidFill>
                  <a:srgbClr val="5F6A72"/>
                </a:solidFill>
                <a:latin typeface="Source Serif 4"/>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9144000" cy="73152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31520"/>
            <a:ext cx="9144000" cy="12802"/>
          </a:xfrm>
          <a:prstGeom prst="rect">
            <a:avLst/>
          </a:prstGeom>
          <a:solidFill>
            <a:srgbClr val="DCE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731520"/>
            <a:ext cx="1481328" cy="12802"/>
          </a:xfrm>
          <a:prstGeom prst="rect">
            <a:avLst/>
          </a:prstGeom>
          <a:solidFill>
            <a:srgbClr val="0079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384048" y="224028"/>
            <a:ext cx="54864" cy="288036"/>
          </a:xfrm>
          <a:prstGeom prst="rect">
            <a:avLst/>
          </a:prstGeom>
          <a:solidFill>
            <a:srgbClr val="0079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48640" y="205740"/>
            <a:ext cx="2103120" cy="256032"/>
          </a:xfrm>
          <a:prstGeom prst="rect">
            <a:avLst/>
          </a:prstGeom>
          <a:noFill/>
        </p:spPr>
        <p:txBody>
          <a:bodyPr wrap="square" lIns="0" rIns="0" tIns="0" bIns="0" anchor="t"/>
          <a:lstStyle/>
          <a:p>
            <a:pPr algn="l">
              <a:lnSpc>
                <a:spcPct val="100000"/>
              </a:lnSpc>
              <a:spcBef>
                <a:spcPts val="0"/>
              </a:spcBef>
              <a:spcAft>
                <a:spcPts val="0"/>
              </a:spcAft>
            </a:pPr>
            <a:r>
              <a:rPr sz="1700" b="1" i="0" spc="120">
                <a:solidFill>
                  <a:srgbClr val="14181B"/>
                </a:solidFill>
                <a:latin typeface="Source Serif 4"/>
              </a:rPr>
              <a:t>DOMINO</a:t>
            </a:r>
          </a:p>
        </p:txBody>
      </p:sp>
      <p:sp>
        <p:nvSpPr>
          <p:cNvPr id="8" name="Rectangle 7"/>
          <p:cNvSpPr/>
          <p:nvPr/>
        </p:nvSpPr>
        <p:spPr>
          <a:xfrm>
            <a:off x="2148840" y="182880"/>
            <a:ext cx="7315" cy="365760"/>
          </a:xfrm>
          <a:prstGeom prst="rect">
            <a:avLst/>
          </a:prstGeom>
          <a:solidFill>
            <a:srgbClr val="BCC5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2377440" y="214884"/>
            <a:ext cx="5715000" cy="310896"/>
          </a:xfrm>
          <a:prstGeom prst="rect">
            <a:avLst/>
          </a:prstGeom>
          <a:noFill/>
        </p:spPr>
        <p:txBody>
          <a:bodyPr wrap="square" lIns="0" rIns="0" tIns="0" bIns="0" anchor="t"/>
          <a:lstStyle/>
          <a:p>
            <a:pPr algn="l">
              <a:lnSpc>
                <a:spcPct val="100000"/>
              </a:lnSpc>
              <a:spcBef>
                <a:spcPts val="0"/>
              </a:spcBef>
              <a:spcAft>
                <a:spcPts val="0"/>
              </a:spcAft>
            </a:pPr>
            <a:r>
              <a:rPr sz="1900" b="1" i="0" spc="-20">
                <a:solidFill>
                  <a:srgbClr val="14181B"/>
                </a:solidFill>
                <a:latin typeface="Source Serif 4"/>
              </a:rPr>
              <a:t>Feasibility</a:t>
            </a:r>
          </a:p>
        </p:txBody>
      </p:sp>
      <p:pic>
        <p:nvPicPr>
          <p:cNvPr id="10" name="Picture 9" descr="logo_m26.png"/>
          <p:cNvPicPr>
            <a:picLocks noChangeAspect="1"/>
          </p:cNvPicPr>
          <p:nvPr/>
        </p:nvPicPr>
        <p:blipFill>
          <a:blip r:embed="rId2"/>
          <a:stretch>
            <a:fillRect/>
          </a:stretch>
        </p:blipFill>
        <p:spPr>
          <a:xfrm>
            <a:off x="8250689" y="91440"/>
            <a:ext cx="640080" cy="475453"/>
          </a:xfrm>
          <a:prstGeom prst="rect">
            <a:avLst/>
          </a:prstGeom>
        </p:spPr>
      </p:pic>
      <p:sp>
        <p:nvSpPr>
          <p:cNvPr id="11" name="Rectangle 10"/>
          <p:cNvSpPr/>
          <p:nvPr/>
        </p:nvSpPr>
        <p:spPr>
          <a:xfrm>
            <a:off x="384048" y="841248"/>
            <a:ext cx="4078224" cy="2286000"/>
          </a:xfrm>
          <a:prstGeom prst="rect">
            <a:avLst/>
          </a:prstGeom>
          <a:solidFill>
            <a:srgbClr val="FAFBFC">
              <a:alpha val="100000"/>
            </a:srgbClr>
          </a:solidFill>
          <a:ln w="9525">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84048" y="841248"/>
            <a:ext cx="50292" cy="2286000"/>
          </a:xfrm>
          <a:prstGeom prst="rect">
            <a:avLst/>
          </a:prstGeom>
          <a:solidFill>
            <a:srgbClr val="0079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03504" y="932688"/>
            <a:ext cx="3657600" cy="201168"/>
          </a:xfrm>
          <a:prstGeom prst="rect">
            <a:avLst/>
          </a:prstGeom>
          <a:noFill/>
        </p:spPr>
        <p:txBody>
          <a:bodyPr wrap="square" lIns="0" rIns="0" tIns="0" bIns="0" anchor="t"/>
          <a:lstStyle/>
          <a:p>
            <a:pPr algn="l">
              <a:lnSpc>
                <a:spcPct val="100000"/>
              </a:lnSpc>
              <a:spcBef>
                <a:spcPts val="0"/>
              </a:spcBef>
              <a:spcAft>
                <a:spcPts val="0"/>
              </a:spcAft>
            </a:pPr>
            <a:r>
              <a:rPr sz="950" b="1" i="0" spc="80">
                <a:solidFill>
                  <a:srgbClr val="00798A"/>
                </a:solidFill>
                <a:latin typeface="Libre Franklin"/>
              </a:rPr>
              <a:t>EVIDENCE 1 — REAL POPULATION DATA</a:t>
            </a:r>
          </a:p>
        </p:txBody>
      </p:sp>
      <p:sp>
        <p:nvSpPr>
          <p:cNvPr id="14" name="TextBox 13"/>
          <p:cNvSpPr txBox="1"/>
          <p:nvPr/>
        </p:nvSpPr>
        <p:spPr>
          <a:xfrm>
            <a:off x="603504" y="1152144"/>
            <a:ext cx="3657600" cy="237744"/>
          </a:xfrm>
          <a:prstGeom prst="rect">
            <a:avLst/>
          </a:prstGeom>
          <a:noFill/>
        </p:spPr>
        <p:txBody>
          <a:bodyPr wrap="square" lIns="0" rIns="0" tIns="0" bIns="0" anchor="t"/>
          <a:lstStyle/>
          <a:p>
            <a:pPr algn="l">
              <a:lnSpc>
                <a:spcPct val="100000"/>
              </a:lnSpc>
              <a:spcBef>
                <a:spcPts val="0"/>
              </a:spcBef>
              <a:spcAft>
                <a:spcPts val="0"/>
              </a:spcAft>
            </a:pPr>
            <a:r>
              <a:rPr sz="1250" b="1" i="0">
                <a:solidFill>
                  <a:srgbClr val="14181B"/>
                </a:solidFill>
                <a:latin typeface="Source Serif 4"/>
              </a:rPr>
              <a:t>Remove a hospital, then put one action back</a:t>
            </a:r>
          </a:p>
        </p:txBody>
      </p:sp>
      <p:sp>
        <p:nvSpPr>
          <p:cNvPr id="15" name="TextBox 14"/>
          <p:cNvSpPr txBox="1"/>
          <p:nvPr/>
        </p:nvSpPr>
        <p:spPr>
          <a:xfrm>
            <a:off x="603504" y="1408176"/>
            <a:ext cx="3639312" cy="182880"/>
          </a:xfrm>
          <a:prstGeom prst="rect">
            <a:avLst/>
          </a:prstGeom>
          <a:noFill/>
        </p:spPr>
        <p:txBody>
          <a:bodyPr wrap="square" lIns="0" rIns="0" tIns="0" bIns="0" anchor="t"/>
          <a:lstStyle/>
          <a:p>
            <a:pPr algn="l">
              <a:lnSpc>
                <a:spcPct val="100000"/>
              </a:lnSpc>
              <a:spcBef>
                <a:spcPts val="0"/>
              </a:spcBef>
              <a:spcAft>
                <a:spcPts val="0"/>
              </a:spcAft>
            </a:pPr>
            <a:r>
              <a:rPr sz="850" b="0" i="0">
                <a:solidFill>
                  <a:srgbClr val="5F6A72"/>
                </a:solidFill>
                <a:latin typeface="Libre Franklin"/>
              </a:rPr>
              <a:t>570,509 people in the study area, WorldPop plus mapped service locations</a:t>
            </a:r>
          </a:p>
        </p:txBody>
      </p:sp>
      <p:sp>
        <p:nvSpPr>
          <p:cNvPr id="16" name="TextBox 15"/>
          <p:cNvSpPr txBox="1"/>
          <p:nvPr/>
        </p:nvSpPr>
        <p:spPr>
          <a:xfrm>
            <a:off x="603504" y="1645920"/>
            <a:ext cx="1127760" cy="347472"/>
          </a:xfrm>
          <a:prstGeom prst="rect">
            <a:avLst/>
          </a:prstGeom>
          <a:noFill/>
        </p:spPr>
        <p:txBody>
          <a:bodyPr wrap="square" lIns="0" rIns="0" tIns="0" bIns="0" anchor="t"/>
          <a:lstStyle/>
          <a:p>
            <a:pPr algn="l">
              <a:lnSpc>
                <a:spcPct val="100000"/>
              </a:lnSpc>
              <a:spcBef>
                <a:spcPts val="0"/>
              </a:spcBef>
              <a:spcAft>
                <a:spcPts val="0"/>
              </a:spcAft>
            </a:pPr>
            <a:r>
              <a:rPr sz="2200" b="1" i="0" spc="-60">
                <a:solidFill>
                  <a:srgbClr val="14181B"/>
                </a:solidFill>
                <a:latin typeface="Source Serif 4"/>
              </a:rPr>
              <a:t>81.1%</a:t>
            </a:r>
          </a:p>
        </p:txBody>
      </p:sp>
      <p:sp>
        <p:nvSpPr>
          <p:cNvPr id="17" name="TextBox 16"/>
          <p:cNvSpPr txBox="1"/>
          <p:nvPr/>
        </p:nvSpPr>
        <p:spPr>
          <a:xfrm>
            <a:off x="603504" y="2029968"/>
            <a:ext cx="1127760" cy="310896"/>
          </a:xfrm>
          <a:prstGeom prst="rect">
            <a:avLst/>
          </a:prstGeom>
          <a:noFill/>
        </p:spPr>
        <p:txBody>
          <a:bodyPr wrap="square" lIns="0" rIns="0" tIns="0" bIns="0" anchor="t"/>
          <a:lstStyle/>
          <a:p>
            <a:pPr algn="l">
              <a:lnSpc>
                <a:spcPct val="110000"/>
              </a:lnSpc>
              <a:spcBef>
                <a:spcPts val="0"/>
              </a:spcBef>
              <a:spcAft>
                <a:spcPts val="0"/>
              </a:spcAft>
            </a:pPr>
            <a:r>
              <a:rPr sz="850" b="0" i="0">
                <a:solidFill>
                  <a:srgbClr val="5F6A72"/>
                </a:solidFill>
                <a:latin typeface="Libre Franklin"/>
              </a:rPr>
              <a:t>reach a critical service</a:t>
            </a:r>
          </a:p>
        </p:txBody>
      </p:sp>
      <p:pic>
        <p:nvPicPr>
          <p:cNvPr id="18" name="Picture 17" descr="arrowr_d3fbc9bd6dee.png"/>
          <p:cNvPicPr>
            <a:picLocks noChangeAspect="1"/>
          </p:cNvPicPr>
          <p:nvPr/>
        </p:nvPicPr>
        <p:blipFill>
          <a:blip r:embed="rId3"/>
          <a:stretch>
            <a:fillRect/>
          </a:stretch>
        </p:blipFill>
        <p:spPr>
          <a:xfrm>
            <a:off x="1735836" y="1700784"/>
            <a:ext cx="118872" cy="118872"/>
          </a:xfrm>
          <a:prstGeom prst="rect">
            <a:avLst/>
          </a:prstGeom>
        </p:spPr>
      </p:pic>
      <p:sp>
        <p:nvSpPr>
          <p:cNvPr id="19" name="TextBox 18"/>
          <p:cNvSpPr txBox="1"/>
          <p:nvPr/>
        </p:nvSpPr>
        <p:spPr>
          <a:xfrm>
            <a:off x="1859280" y="1645920"/>
            <a:ext cx="1127760" cy="347472"/>
          </a:xfrm>
          <a:prstGeom prst="rect">
            <a:avLst/>
          </a:prstGeom>
          <a:noFill/>
        </p:spPr>
        <p:txBody>
          <a:bodyPr wrap="square" lIns="0" rIns="0" tIns="0" bIns="0" anchor="t"/>
          <a:lstStyle/>
          <a:p>
            <a:pPr algn="l">
              <a:lnSpc>
                <a:spcPct val="100000"/>
              </a:lnSpc>
              <a:spcBef>
                <a:spcPts val="0"/>
              </a:spcBef>
              <a:spcAft>
                <a:spcPts val="0"/>
              </a:spcAft>
            </a:pPr>
            <a:r>
              <a:rPr sz="2200" b="1" i="0" spc="-60">
                <a:solidFill>
                  <a:srgbClr val="C62828"/>
                </a:solidFill>
                <a:latin typeface="Source Serif 4"/>
              </a:rPr>
              <a:t>68.3%</a:t>
            </a:r>
          </a:p>
        </p:txBody>
      </p:sp>
      <p:sp>
        <p:nvSpPr>
          <p:cNvPr id="20" name="TextBox 19"/>
          <p:cNvSpPr txBox="1"/>
          <p:nvPr/>
        </p:nvSpPr>
        <p:spPr>
          <a:xfrm>
            <a:off x="1859280" y="2029968"/>
            <a:ext cx="1127760" cy="310896"/>
          </a:xfrm>
          <a:prstGeom prst="rect">
            <a:avLst/>
          </a:prstGeom>
          <a:noFill/>
        </p:spPr>
        <p:txBody>
          <a:bodyPr wrap="square" lIns="0" rIns="0" tIns="0" bIns="0" anchor="t"/>
          <a:lstStyle/>
          <a:p>
            <a:pPr algn="l">
              <a:lnSpc>
                <a:spcPct val="110000"/>
              </a:lnSpc>
              <a:spcBef>
                <a:spcPts val="0"/>
              </a:spcBef>
              <a:spcAft>
                <a:spcPts val="0"/>
              </a:spcAft>
            </a:pPr>
            <a:r>
              <a:rPr sz="850" b="0" i="0">
                <a:solidFill>
                  <a:srgbClr val="5F6A72"/>
                </a:solidFill>
                <a:latin typeface="Libre Franklin"/>
              </a:rPr>
              <a:t>after the hospital is lost</a:t>
            </a:r>
          </a:p>
        </p:txBody>
      </p:sp>
      <p:pic>
        <p:nvPicPr>
          <p:cNvPr id="21" name="Picture 20" descr="arrowr_d3fbc9bd6dee.png"/>
          <p:cNvPicPr>
            <a:picLocks noChangeAspect="1"/>
          </p:cNvPicPr>
          <p:nvPr/>
        </p:nvPicPr>
        <p:blipFill>
          <a:blip r:embed="rId3"/>
          <a:stretch>
            <a:fillRect/>
          </a:stretch>
        </p:blipFill>
        <p:spPr>
          <a:xfrm>
            <a:off x="2991612" y="1700784"/>
            <a:ext cx="118872" cy="118872"/>
          </a:xfrm>
          <a:prstGeom prst="rect">
            <a:avLst/>
          </a:prstGeom>
        </p:spPr>
      </p:pic>
      <p:sp>
        <p:nvSpPr>
          <p:cNvPr id="22" name="TextBox 21"/>
          <p:cNvSpPr txBox="1"/>
          <p:nvPr/>
        </p:nvSpPr>
        <p:spPr>
          <a:xfrm>
            <a:off x="3115056" y="1645920"/>
            <a:ext cx="1127760" cy="347472"/>
          </a:xfrm>
          <a:prstGeom prst="rect">
            <a:avLst/>
          </a:prstGeom>
          <a:noFill/>
        </p:spPr>
        <p:txBody>
          <a:bodyPr wrap="square" lIns="0" rIns="0" tIns="0" bIns="0" anchor="t"/>
          <a:lstStyle/>
          <a:p>
            <a:pPr algn="l">
              <a:lnSpc>
                <a:spcPct val="100000"/>
              </a:lnSpc>
              <a:spcBef>
                <a:spcPts val="0"/>
              </a:spcBef>
              <a:spcAft>
                <a:spcPts val="0"/>
              </a:spcAft>
            </a:pPr>
            <a:r>
              <a:rPr sz="2200" b="1" i="0" spc="-60">
                <a:solidFill>
                  <a:srgbClr val="00798A"/>
                </a:solidFill>
                <a:latin typeface="Source Serif 4"/>
              </a:rPr>
              <a:t>83.3%</a:t>
            </a:r>
          </a:p>
        </p:txBody>
      </p:sp>
      <p:sp>
        <p:nvSpPr>
          <p:cNvPr id="23" name="TextBox 22"/>
          <p:cNvSpPr txBox="1"/>
          <p:nvPr/>
        </p:nvSpPr>
        <p:spPr>
          <a:xfrm>
            <a:off x="3115056" y="2029968"/>
            <a:ext cx="1127760" cy="310896"/>
          </a:xfrm>
          <a:prstGeom prst="rect">
            <a:avLst/>
          </a:prstGeom>
          <a:noFill/>
        </p:spPr>
        <p:txBody>
          <a:bodyPr wrap="square" lIns="0" rIns="0" tIns="0" bIns="0" anchor="t"/>
          <a:lstStyle/>
          <a:p>
            <a:pPr algn="l">
              <a:lnSpc>
                <a:spcPct val="110000"/>
              </a:lnSpc>
              <a:spcBef>
                <a:spcPts val="0"/>
              </a:spcBef>
              <a:spcAft>
                <a:spcPts val="0"/>
              </a:spcAft>
            </a:pPr>
            <a:r>
              <a:rPr sz="850" b="0" i="0">
                <a:solidFill>
                  <a:srgbClr val="5F6A72"/>
                </a:solidFill>
                <a:latin typeface="Libre Franklin"/>
              </a:rPr>
              <a:t>after our intervention</a:t>
            </a:r>
          </a:p>
        </p:txBody>
      </p:sp>
      <p:sp>
        <p:nvSpPr>
          <p:cNvPr id="24" name="Rectangle 23"/>
          <p:cNvSpPr/>
          <p:nvPr/>
        </p:nvSpPr>
        <p:spPr>
          <a:xfrm>
            <a:off x="603504" y="2395728"/>
            <a:ext cx="3639312" cy="10973"/>
          </a:xfrm>
          <a:prstGeom prst="rect">
            <a:avLst/>
          </a:prstGeom>
          <a:solidFill>
            <a:srgbClr val="DCE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03504" y="2487168"/>
            <a:ext cx="3639312" cy="512064"/>
          </a:xfrm>
          <a:prstGeom prst="rect">
            <a:avLst/>
          </a:prstGeom>
          <a:noFill/>
        </p:spPr>
        <p:txBody>
          <a:bodyPr wrap="square" lIns="0" rIns="0" tIns="0" bIns="0" anchor="t"/>
          <a:lstStyle/>
          <a:p>
            <a:pPr algn="l">
              <a:lnSpc>
                <a:spcPct val="115999"/>
              </a:lnSpc>
              <a:spcBef>
                <a:spcPts val="0"/>
              </a:spcBef>
              <a:spcAft>
                <a:spcPts val="0"/>
              </a:spcAft>
            </a:pPr>
            <a:r>
              <a:rPr sz="900" b="0" i="0">
                <a:solidFill>
                  <a:srgbClr val="44505A"/>
                </a:solidFill>
                <a:latin typeface="Libre Franklin"/>
              </a:rPr>
              <a:t>83.3% is above the 81.1% we started from, so the action that contains the cascade was worth taking anyway. 47.2% of the newly cut-off population is recovered, against 26.2% for random placement.</a:t>
            </a:r>
          </a:p>
        </p:txBody>
      </p:sp>
      <p:sp>
        <p:nvSpPr>
          <p:cNvPr id="26" name="Rectangle 25"/>
          <p:cNvSpPr/>
          <p:nvPr/>
        </p:nvSpPr>
        <p:spPr>
          <a:xfrm>
            <a:off x="4681728" y="841248"/>
            <a:ext cx="4078224" cy="2286000"/>
          </a:xfrm>
          <a:prstGeom prst="rect">
            <a:avLst/>
          </a:prstGeom>
          <a:solidFill>
            <a:srgbClr val="FAFBFC">
              <a:alpha val="100000"/>
            </a:srgbClr>
          </a:solidFill>
          <a:ln w="9525">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681728" y="841248"/>
            <a:ext cx="50292" cy="2286000"/>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901184" y="932688"/>
            <a:ext cx="3657600" cy="201168"/>
          </a:xfrm>
          <a:prstGeom prst="rect">
            <a:avLst/>
          </a:prstGeom>
          <a:noFill/>
        </p:spPr>
        <p:txBody>
          <a:bodyPr wrap="square" lIns="0" rIns="0" tIns="0" bIns="0" anchor="t"/>
          <a:lstStyle/>
          <a:p>
            <a:pPr algn="l">
              <a:lnSpc>
                <a:spcPct val="100000"/>
              </a:lnSpc>
              <a:spcBef>
                <a:spcPts val="0"/>
              </a:spcBef>
              <a:spcAft>
                <a:spcPts val="0"/>
              </a:spcAft>
            </a:pPr>
            <a:r>
              <a:rPr sz="950" b="1" i="0" spc="80">
                <a:solidFill>
                  <a:srgbClr val="BF5B12"/>
                </a:solidFill>
                <a:latin typeface="Libre Franklin"/>
              </a:rPr>
              <a:t>EVIDENCE 2 — OUR ENGINE, RUNNING</a:t>
            </a:r>
          </a:p>
        </p:txBody>
      </p:sp>
      <p:sp>
        <p:nvSpPr>
          <p:cNvPr id="29" name="TextBox 28"/>
          <p:cNvSpPr txBox="1"/>
          <p:nvPr/>
        </p:nvSpPr>
        <p:spPr>
          <a:xfrm>
            <a:off x="4901184" y="1152144"/>
            <a:ext cx="3657600" cy="237744"/>
          </a:xfrm>
          <a:prstGeom prst="rect">
            <a:avLst/>
          </a:prstGeom>
          <a:noFill/>
        </p:spPr>
        <p:txBody>
          <a:bodyPr wrap="square" lIns="0" rIns="0" tIns="0" bIns="0" anchor="t"/>
          <a:lstStyle/>
          <a:p>
            <a:pPr algn="l">
              <a:lnSpc>
                <a:spcPct val="100000"/>
              </a:lnSpc>
              <a:spcBef>
                <a:spcPts val="0"/>
              </a:spcBef>
              <a:spcAft>
                <a:spcPts val="0"/>
              </a:spcAft>
            </a:pPr>
            <a:r>
              <a:rPr sz="1250" b="1" i="0">
                <a:solidFill>
                  <a:srgbClr val="14181B"/>
                </a:solidFill>
                <a:latin typeface="Source Serif 4"/>
              </a:rPr>
              <a:t>Same budget, two ways to spend it</a:t>
            </a:r>
          </a:p>
        </p:txBody>
      </p:sp>
      <p:sp>
        <p:nvSpPr>
          <p:cNvPr id="30" name="TextBox 29"/>
          <p:cNvSpPr txBox="1"/>
          <p:nvPr/>
        </p:nvSpPr>
        <p:spPr>
          <a:xfrm>
            <a:off x="4901184" y="1463040"/>
            <a:ext cx="2011680" cy="182880"/>
          </a:xfrm>
          <a:prstGeom prst="rect">
            <a:avLst/>
          </a:prstGeom>
          <a:noFill/>
        </p:spPr>
        <p:txBody>
          <a:bodyPr wrap="square" lIns="0" rIns="0" tIns="0" bIns="0" anchor="t"/>
          <a:lstStyle/>
          <a:p>
            <a:pPr algn="l">
              <a:lnSpc>
                <a:spcPct val="100000"/>
              </a:lnSpc>
              <a:spcBef>
                <a:spcPts val="0"/>
              </a:spcBef>
              <a:spcAft>
                <a:spcPts val="0"/>
              </a:spcAft>
            </a:pPr>
            <a:r>
              <a:rPr sz="1050" b="1" i="0">
                <a:solidFill>
                  <a:srgbClr val="14181B"/>
                </a:solidFill>
                <a:latin typeface="Source Serif 4"/>
              </a:rPr>
              <a:t>The standard method</a:t>
            </a:r>
          </a:p>
        </p:txBody>
      </p:sp>
      <p:sp>
        <p:nvSpPr>
          <p:cNvPr id="31" name="TextBox 30"/>
          <p:cNvSpPr txBox="1"/>
          <p:nvPr/>
        </p:nvSpPr>
        <p:spPr>
          <a:xfrm>
            <a:off x="4901184" y="1636776"/>
            <a:ext cx="2103120" cy="164592"/>
          </a:xfrm>
          <a:prstGeom prst="rect">
            <a:avLst/>
          </a:prstGeom>
          <a:noFill/>
        </p:spPr>
        <p:txBody>
          <a:bodyPr wrap="square" lIns="0" rIns="0" tIns="0" bIns="0" anchor="t"/>
          <a:lstStyle/>
          <a:p>
            <a:pPr algn="l">
              <a:lnSpc>
                <a:spcPct val="100000"/>
              </a:lnSpc>
              <a:spcBef>
                <a:spcPts val="0"/>
              </a:spcBef>
              <a:spcAft>
                <a:spcPts val="0"/>
              </a:spcAft>
            </a:pPr>
            <a:r>
              <a:rPr sz="850" b="0" i="0">
                <a:solidFill>
                  <a:srgbClr val="97A1A8"/>
                </a:solidFill>
                <a:latin typeface="Libre Franklin"/>
              </a:rPr>
              <a:t>reinforce the most central roads</a:t>
            </a:r>
          </a:p>
        </p:txBody>
      </p:sp>
      <p:sp>
        <p:nvSpPr>
          <p:cNvPr id="32" name="Rectangle 31"/>
          <p:cNvSpPr/>
          <p:nvPr/>
        </p:nvSpPr>
        <p:spPr>
          <a:xfrm>
            <a:off x="7059168" y="1481328"/>
            <a:ext cx="1280160" cy="201168"/>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7059168" y="1481328"/>
            <a:ext cx="623499" cy="201168"/>
          </a:xfrm>
          <a:prstGeom prst="rect">
            <a:avLst/>
          </a:prstGeom>
          <a:solidFill>
            <a:srgbClr val="97A1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059168" y="1700784"/>
            <a:ext cx="1280160" cy="164592"/>
          </a:xfrm>
          <a:prstGeom prst="rect">
            <a:avLst/>
          </a:prstGeom>
          <a:noFill/>
        </p:spPr>
        <p:txBody>
          <a:bodyPr wrap="square" lIns="0" rIns="0" tIns="0" bIns="0" anchor="t"/>
          <a:lstStyle/>
          <a:p>
            <a:pPr algn="l">
              <a:lnSpc>
                <a:spcPct val="100000"/>
              </a:lnSpc>
              <a:spcBef>
                <a:spcPts val="0"/>
              </a:spcBef>
              <a:spcAft>
                <a:spcPts val="0"/>
              </a:spcAft>
            </a:pPr>
            <a:r>
              <a:rPr sz="850" b="1" i="0">
                <a:solidFill>
                  <a:srgbClr val="97A1A8"/>
                </a:solidFill>
                <a:latin typeface="Libre Franklin"/>
              </a:rPr>
              <a:t>1,993 people · ₹7.6 cr</a:t>
            </a:r>
          </a:p>
        </p:txBody>
      </p:sp>
      <p:sp>
        <p:nvSpPr>
          <p:cNvPr id="35" name="TextBox 34"/>
          <p:cNvSpPr txBox="1"/>
          <p:nvPr/>
        </p:nvSpPr>
        <p:spPr>
          <a:xfrm>
            <a:off x="4901184" y="1993392"/>
            <a:ext cx="2011680" cy="182880"/>
          </a:xfrm>
          <a:prstGeom prst="rect">
            <a:avLst/>
          </a:prstGeom>
          <a:noFill/>
        </p:spPr>
        <p:txBody>
          <a:bodyPr wrap="square" lIns="0" rIns="0" tIns="0" bIns="0" anchor="t"/>
          <a:lstStyle/>
          <a:p>
            <a:pPr algn="l">
              <a:lnSpc>
                <a:spcPct val="100000"/>
              </a:lnSpc>
              <a:spcBef>
                <a:spcPts val="0"/>
              </a:spcBef>
              <a:spcAft>
                <a:spcPts val="0"/>
              </a:spcAft>
            </a:pPr>
            <a:r>
              <a:rPr sz="1050" b="1" i="0">
                <a:solidFill>
                  <a:srgbClr val="14181B"/>
                </a:solidFill>
                <a:latin typeface="Source Serif 4"/>
              </a:rPr>
              <a:t>DOMINO</a:t>
            </a:r>
          </a:p>
        </p:txBody>
      </p:sp>
      <p:sp>
        <p:nvSpPr>
          <p:cNvPr id="36" name="TextBox 35"/>
          <p:cNvSpPr txBox="1"/>
          <p:nvPr/>
        </p:nvSpPr>
        <p:spPr>
          <a:xfrm>
            <a:off x="4901184" y="2167128"/>
            <a:ext cx="2103120" cy="164592"/>
          </a:xfrm>
          <a:prstGeom prst="rect">
            <a:avLst/>
          </a:prstGeom>
          <a:noFill/>
        </p:spPr>
        <p:txBody>
          <a:bodyPr wrap="square" lIns="0" rIns="0" tIns="0" bIns="0" anchor="t"/>
          <a:lstStyle/>
          <a:p>
            <a:pPr algn="l">
              <a:lnSpc>
                <a:spcPct val="100000"/>
              </a:lnSpc>
              <a:spcBef>
                <a:spcPts val="0"/>
              </a:spcBef>
              <a:spcAft>
                <a:spcPts val="0"/>
              </a:spcAft>
            </a:pPr>
            <a:r>
              <a:rPr sz="850" b="0" i="0">
                <a:solidFill>
                  <a:srgbClr val="97A1A8"/>
                </a:solidFill>
                <a:latin typeface="Libre Franklin"/>
              </a:rPr>
              <a:t>buy back the most service per rupee</a:t>
            </a:r>
          </a:p>
        </p:txBody>
      </p:sp>
      <p:sp>
        <p:nvSpPr>
          <p:cNvPr id="37" name="Rectangle 36"/>
          <p:cNvSpPr/>
          <p:nvPr/>
        </p:nvSpPr>
        <p:spPr>
          <a:xfrm>
            <a:off x="7059168" y="2011680"/>
            <a:ext cx="1280160" cy="201168"/>
          </a:xfrm>
          <a:prstGeom prst="rect">
            <a:avLst/>
          </a:prstGeom>
          <a:solidFill>
            <a:srgbClr val="EF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7059168" y="2011680"/>
            <a:ext cx="1280160" cy="201168"/>
          </a:xfrm>
          <a:prstGeom prst="rect">
            <a:avLst/>
          </a:prstGeom>
          <a:solidFill>
            <a:srgbClr val="0079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059168" y="2231136"/>
            <a:ext cx="1280160" cy="164592"/>
          </a:xfrm>
          <a:prstGeom prst="rect">
            <a:avLst/>
          </a:prstGeom>
          <a:noFill/>
        </p:spPr>
        <p:txBody>
          <a:bodyPr wrap="square" lIns="0" rIns="0" tIns="0" bIns="0" anchor="t"/>
          <a:lstStyle/>
          <a:p>
            <a:pPr algn="l">
              <a:lnSpc>
                <a:spcPct val="100000"/>
              </a:lnSpc>
              <a:spcBef>
                <a:spcPts val="0"/>
              </a:spcBef>
              <a:spcAft>
                <a:spcPts val="0"/>
              </a:spcAft>
            </a:pPr>
            <a:r>
              <a:rPr sz="850" b="1" i="0">
                <a:solidFill>
                  <a:srgbClr val="00798A"/>
                </a:solidFill>
                <a:latin typeface="Libre Franklin"/>
              </a:rPr>
              <a:t>4,092 people · ₹8.9 cr</a:t>
            </a:r>
          </a:p>
        </p:txBody>
      </p:sp>
      <p:sp>
        <p:nvSpPr>
          <p:cNvPr id="40" name="Rectangle 39"/>
          <p:cNvSpPr/>
          <p:nvPr/>
        </p:nvSpPr>
        <p:spPr>
          <a:xfrm>
            <a:off x="4901184" y="2523744"/>
            <a:ext cx="3639312" cy="10973"/>
          </a:xfrm>
          <a:prstGeom prst="rect">
            <a:avLst/>
          </a:prstGeom>
          <a:solidFill>
            <a:srgbClr val="DCE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901184" y="2615184"/>
            <a:ext cx="3639312" cy="420624"/>
          </a:xfrm>
          <a:prstGeom prst="rect">
            <a:avLst/>
          </a:prstGeom>
          <a:noFill/>
        </p:spPr>
        <p:txBody>
          <a:bodyPr wrap="square" lIns="0" rIns="0" tIns="0" bIns="0" anchor="t"/>
          <a:lstStyle/>
          <a:p>
            <a:pPr algn="l">
              <a:lnSpc>
                <a:spcPct val="115999"/>
              </a:lnSpc>
              <a:spcBef>
                <a:spcPts val="0"/>
              </a:spcBef>
              <a:spcAft>
                <a:spcPts val="0"/>
              </a:spcAft>
            </a:pPr>
            <a:r>
              <a:rPr sz="900" b="0" i="0">
                <a:solidFill>
                  <a:srgbClr val="44505A"/>
                </a:solidFill>
                <a:latin typeface="Libre Franklin"/>
              </a:rPr>
              <a:t>2.05× more people protected, for less money — and DOMINO stops at ₹8.9 crore because nothing else it could buy wins back another person. Corridor resilience goes 82.7 → 91.3 out of 100.</a:t>
            </a:r>
          </a:p>
        </p:txBody>
      </p:sp>
      <p:sp>
        <p:nvSpPr>
          <p:cNvPr id="42" name="Rectangle 41"/>
          <p:cNvSpPr/>
          <p:nvPr/>
        </p:nvSpPr>
        <p:spPr>
          <a:xfrm>
            <a:off x="384048" y="3236976"/>
            <a:ext cx="2700528" cy="1499616"/>
          </a:xfrm>
          <a:prstGeom prst="rect">
            <a:avLst/>
          </a:prstGeom>
          <a:solidFill>
            <a:srgbClr val="FAFBFC">
              <a:alpha val="100000"/>
            </a:srgbClr>
          </a:solidFill>
          <a:ln w="9525">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384048" y="3236976"/>
            <a:ext cx="45720" cy="1499616"/>
          </a:xfrm>
          <a:prstGeom prst="rect">
            <a:avLst/>
          </a:prstGeom>
          <a:solidFill>
            <a:srgbClr val="0079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66928" y="3346704"/>
            <a:ext cx="2371344" cy="237744"/>
          </a:xfrm>
          <a:prstGeom prst="rect">
            <a:avLst/>
          </a:prstGeom>
          <a:noFill/>
        </p:spPr>
        <p:txBody>
          <a:bodyPr wrap="square" lIns="0" rIns="0" tIns="0" bIns="0" anchor="t"/>
          <a:lstStyle/>
          <a:p>
            <a:pPr algn="l">
              <a:lnSpc>
                <a:spcPct val="100000"/>
              </a:lnSpc>
              <a:spcBef>
                <a:spcPts val="0"/>
              </a:spcBef>
              <a:spcAft>
                <a:spcPts val="0"/>
              </a:spcAft>
            </a:pPr>
            <a:r>
              <a:rPr sz="1200" b="1" i="0">
                <a:solidFill>
                  <a:srgbClr val="00798A"/>
                </a:solidFill>
                <a:latin typeface="Source Serif 4"/>
              </a:rPr>
              <a:t>What ships first</a:t>
            </a:r>
          </a:p>
        </p:txBody>
      </p:sp>
      <p:sp>
        <p:nvSpPr>
          <p:cNvPr id="45" name="TextBox 44"/>
          <p:cNvSpPr txBox="1"/>
          <p:nvPr/>
        </p:nvSpPr>
        <p:spPr>
          <a:xfrm>
            <a:off x="566928" y="3639312"/>
            <a:ext cx="2334768" cy="1005840"/>
          </a:xfrm>
          <a:prstGeom prst="rect">
            <a:avLst/>
          </a:prstGeom>
          <a:noFill/>
        </p:spPr>
        <p:txBody>
          <a:bodyPr wrap="square" lIns="0" rIns="0" tIns="0" bIns="0" anchor="t"/>
          <a:lstStyle/>
          <a:p>
            <a:pPr algn="l">
              <a:lnSpc>
                <a:spcPct val="120000"/>
              </a:lnSpc>
              <a:spcBef>
                <a:spcPts val="0"/>
              </a:spcBef>
              <a:spcAft>
                <a:spcPts val="0"/>
              </a:spcAft>
            </a:pPr>
            <a:r>
              <a:rPr sz="950" b="0" i="0">
                <a:solidFill>
                  <a:srgbClr val="44505A"/>
                </a:solidFill>
                <a:latin typeface="Libre Franklin"/>
              </a:rPr>
              <a:t>Roads, bridges, services, towers and population on one graph, with the next-domino detector, the explainable score and the dark-zone clock.</a:t>
            </a:r>
          </a:p>
        </p:txBody>
      </p:sp>
      <p:sp>
        <p:nvSpPr>
          <p:cNvPr id="46" name="Rectangle 45"/>
          <p:cNvSpPr/>
          <p:nvPr/>
        </p:nvSpPr>
        <p:spPr>
          <a:xfrm>
            <a:off x="3221736" y="3236976"/>
            <a:ext cx="2700528" cy="1499616"/>
          </a:xfrm>
          <a:prstGeom prst="rect">
            <a:avLst/>
          </a:prstGeom>
          <a:solidFill>
            <a:srgbClr val="FAFBFC">
              <a:alpha val="100000"/>
            </a:srgbClr>
          </a:solidFill>
          <a:ln w="9525">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3221736" y="3236976"/>
            <a:ext cx="45720" cy="149961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404616" y="3346704"/>
            <a:ext cx="2371344" cy="237744"/>
          </a:xfrm>
          <a:prstGeom prst="rect">
            <a:avLst/>
          </a:prstGeom>
          <a:noFill/>
        </p:spPr>
        <p:txBody>
          <a:bodyPr wrap="square" lIns="0" rIns="0" tIns="0" bIns="0" anchor="t"/>
          <a:lstStyle/>
          <a:p>
            <a:pPr algn="l">
              <a:lnSpc>
                <a:spcPct val="100000"/>
              </a:lnSpc>
              <a:spcBef>
                <a:spcPts val="0"/>
              </a:spcBef>
              <a:spcAft>
                <a:spcPts val="0"/>
              </a:spcAft>
            </a:pPr>
            <a:r>
              <a:rPr sz="1200" b="1" i="0">
                <a:solidFill>
                  <a:srgbClr val="C62828"/>
                </a:solidFill>
                <a:latin typeface="Source Serif 4"/>
              </a:rPr>
              <a:t>What we do not claim</a:t>
            </a:r>
          </a:p>
        </p:txBody>
      </p:sp>
      <p:sp>
        <p:nvSpPr>
          <p:cNvPr id="49" name="TextBox 48"/>
          <p:cNvSpPr txBox="1"/>
          <p:nvPr/>
        </p:nvSpPr>
        <p:spPr>
          <a:xfrm>
            <a:off x="3404616" y="3639312"/>
            <a:ext cx="2334768" cy="1005840"/>
          </a:xfrm>
          <a:prstGeom prst="rect">
            <a:avLst/>
          </a:prstGeom>
          <a:noFill/>
        </p:spPr>
        <p:txBody>
          <a:bodyPr wrap="square" lIns="0" rIns="0" tIns="0" bIns="0" anchor="t"/>
          <a:lstStyle/>
          <a:p>
            <a:pPr algn="l">
              <a:lnSpc>
                <a:spcPct val="120000"/>
              </a:lnSpc>
              <a:spcBef>
                <a:spcPts val="0"/>
              </a:spcBef>
              <a:spcAft>
                <a:spcPts val="0"/>
              </a:spcAft>
            </a:pPr>
            <a:r>
              <a:rPr sz="950" b="0" i="0">
                <a:solidFill>
                  <a:srgbClr val="44505A"/>
                </a:solidFill>
                <a:latin typeface="Libre Franklin"/>
              </a:rPr>
              <a:t>Access, not treatment. Topology and capacity, not human behaviour. Modelled population, not a building-level census. Costs are indicative rates.</a:t>
            </a:r>
          </a:p>
        </p:txBody>
      </p:sp>
      <p:sp>
        <p:nvSpPr>
          <p:cNvPr id="50" name="Rectangle 49"/>
          <p:cNvSpPr/>
          <p:nvPr/>
        </p:nvSpPr>
        <p:spPr>
          <a:xfrm>
            <a:off x="6059424" y="3236976"/>
            <a:ext cx="2700528" cy="1499616"/>
          </a:xfrm>
          <a:prstGeom prst="rect">
            <a:avLst/>
          </a:prstGeom>
          <a:solidFill>
            <a:srgbClr val="FAFBFC">
              <a:alpha val="100000"/>
            </a:srgbClr>
          </a:solidFill>
          <a:ln w="9525">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6059424" y="3236976"/>
            <a:ext cx="45720" cy="1499616"/>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242304" y="3346704"/>
            <a:ext cx="2371344" cy="237744"/>
          </a:xfrm>
          <a:prstGeom prst="rect">
            <a:avLst/>
          </a:prstGeom>
          <a:noFill/>
        </p:spPr>
        <p:txBody>
          <a:bodyPr wrap="square" lIns="0" rIns="0" tIns="0" bIns="0" anchor="t"/>
          <a:lstStyle/>
          <a:p>
            <a:pPr algn="l">
              <a:lnSpc>
                <a:spcPct val="100000"/>
              </a:lnSpc>
              <a:spcBef>
                <a:spcPts val="0"/>
              </a:spcBef>
              <a:spcAft>
                <a:spcPts val="0"/>
              </a:spcAft>
            </a:pPr>
            <a:r>
              <a:rPr sz="1200" b="1" i="0">
                <a:solidFill>
                  <a:srgbClr val="BF5B12"/>
                </a:solidFill>
                <a:latin typeface="Source Serif 4"/>
              </a:rPr>
              <a:t>How we will test it</a:t>
            </a:r>
          </a:p>
        </p:txBody>
      </p:sp>
      <p:sp>
        <p:nvSpPr>
          <p:cNvPr id="53" name="TextBox 52"/>
          <p:cNvSpPr txBox="1"/>
          <p:nvPr/>
        </p:nvSpPr>
        <p:spPr>
          <a:xfrm>
            <a:off x="6242304" y="3639312"/>
            <a:ext cx="2334768" cy="1005840"/>
          </a:xfrm>
          <a:prstGeom prst="rect">
            <a:avLst/>
          </a:prstGeom>
          <a:noFill/>
        </p:spPr>
        <p:txBody>
          <a:bodyPr wrap="square" lIns="0" rIns="0" tIns="0" bIns="0" anchor="t"/>
          <a:lstStyle/>
          <a:p>
            <a:pPr algn="l">
              <a:lnSpc>
                <a:spcPct val="120000"/>
              </a:lnSpc>
              <a:spcBef>
                <a:spcPts val="0"/>
              </a:spcBef>
              <a:spcAft>
                <a:spcPts val="0"/>
              </a:spcAft>
            </a:pPr>
            <a:r>
              <a:rPr sz="950" b="0" i="0">
                <a:solidFill>
                  <a:srgbClr val="44505A"/>
                </a:solidFill>
                <a:latin typeface="Libre Franklin"/>
              </a:rPr>
              <a:t>Replay the Udupi–Manipal road closure of 20 May 2025 and check whether the roads DOMINO ranks next are the ones traffic actually moved onto.</a:t>
            </a:r>
          </a:p>
        </p:txBody>
      </p:sp>
      <p:sp>
        <p:nvSpPr>
          <p:cNvPr id="54" name="Rectangle 53"/>
          <p:cNvSpPr/>
          <p:nvPr/>
        </p:nvSpPr>
        <p:spPr>
          <a:xfrm>
            <a:off x="0" y="4855464"/>
            <a:ext cx="9144000" cy="10973"/>
          </a:xfrm>
          <a:prstGeom prst="rect">
            <a:avLst/>
          </a:prstGeom>
          <a:solidFill>
            <a:srgbClr val="DCE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384048" y="4914900"/>
            <a:ext cx="3291840" cy="182880"/>
          </a:xfrm>
          <a:prstGeom prst="rect">
            <a:avLst/>
          </a:prstGeom>
          <a:noFill/>
        </p:spPr>
        <p:txBody>
          <a:bodyPr wrap="square" lIns="0" rIns="0" tIns="0" bIns="0" anchor="t"/>
          <a:lstStyle/>
          <a:p>
            <a:pPr algn="l">
              <a:lnSpc>
                <a:spcPct val="100000"/>
              </a:lnSpc>
              <a:spcBef>
                <a:spcPts val="0"/>
              </a:spcBef>
              <a:spcAft>
                <a:spcPts val="0"/>
              </a:spcAft>
            </a:pPr>
            <a:r>
              <a:rPr sz="900" b="1" i="0" spc="50">
                <a:solidFill>
                  <a:srgbClr val="97A1A8"/>
                </a:solidFill>
                <a:latin typeface="Libre Franklin"/>
              </a:rPr>
              <a:t>M#26  ·  P05  ·  TEAM MOSSAD.EXE</a:t>
            </a:r>
          </a:p>
        </p:txBody>
      </p:sp>
      <p:sp>
        <p:nvSpPr>
          <p:cNvPr id="56" name="TextBox 55"/>
          <p:cNvSpPr txBox="1"/>
          <p:nvPr/>
        </p:nvSpPr>
        <p:spPr>
          <a:xfrm>
            <a:off x="3685032" y="4914900"/>
            <a:ext cx="4773168" cy="182880"/>
          </a:xfrm>
          <a:prstGeom prst="rect">
            <a:avLst/>
          </a:prstGeom>
          <a:noFill/>
        </p:spPr>
        <p:txBody>
          <a:bodyPr wrap="square" lIns="0" rIns="0" tIns="0" bIns="0" anchor="t"/>
          <a:lstStyle/>
          <a:p>
            <a:pPr algn="r">
              <a:lnSpc>
                <a:spcPct val="100000"/>
              </a:lnSpc>
              <a:spcBef>
                <a:spcPts val="0"/>
              </a:spcBef>
              <a:spcAft>
                <a:spcPts val="0"/>
              </a:spcAft>
            </a:pPr>
            <a:r>
              <a:rPr sz="900" b="0" i="0" spc="20">
                <a:solidFill>
                  <a:srgbClr val="97A1A8"/>
                </a:solidFill>
                <a:latin typeface="Libre Franklin"/>
              </a:rPr>
              <a:t>Two separate evidence bases, kept apart on purpose.</a:t>
            </a:r>
          </a:p>
        </p:txBody>
      </p:sp>
      <p:sp>
        <p:nvSpPr>
          <p:cNvPr id="57" name="TextBox 56"/>
          <p:cNvSpPr txBox="1"/>
          <p:nvPr/>
        </p:nvSpPr>
        <p:spPr>
          <a:xfrm>
            <a:off x="8467344" y="4905756"/>
            <a:ext cx="292608" cy="201168"/>
          </a:xfrm>
          <a:prstGeom prst="rect">
            <a:avLst/>
          </a:prstGeom>
          <a:noFill/>
        </p:spPr>
        <p:txBody>
          <a:bodyPr wrap="square" lIns="0" rIns="0" tIns="0" bIns="0" anchor="t"/>
          <a:lstStyle/>
          <a:p>
            <a:pPr algn="r">
              <a:lnSpc>
                <a:spcPct val="100000"/>
              </a:lnSpc>
              <a:spcBef>
                <a:spcPts val="0"/>
              </a:spcBef>
              <a:spcAft>
                <a:spcPts val="0"/>
              </a:spcAft>
            </a:pPr>
            <a:r>
              <a:rPr sz="1100" b="1" i="0">
                <a:solidFill>
                  <a:srgbClr val="5F6A72"/>
                </a:solidFill>
                <a:latin typeface="Source Serif 4"/>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9144000" cy="73152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31520"/>
            <a:ext cx="9144000" cy="12802"/>
          </a:xfrm>
          <a:prstGeom prst="rect">
            <a:avLst/>
          </a:prstGeom>
          <a:solidFill>
            <a:srgbClr val="DCE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731520"/>
            <a:ext cx="1481328" cy="12802"/>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384048" y="224028"/>
            <a:ext cx="54864" cy="288036"/>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48640" y="205740"/>
            <a:ext cx="2103120" cy="256032"/>
          </a:xfrm>
          <a:prstGeom prst="rect">
            <a:avLst/>
          </a:prstGeom>
          <a:noFill/>
        </p:spPr>
        <p:txBody>
          <a:bodyPr wrap="square" lIns="0" rIns="0" tIns="0" bIns="0" anchor="t"/>
          <a:lstStyle/>
          <a:p>
            <a:pPr algn="l">
              <a:lnSpc>
                <a:spcPct val="100000"/>
              </a:lnSpc>
              <a:spcBef>
                <a:spcPts val="0"/>
              </a:spcBef>
              <a:spcAft>
                <a:spcPts val="0"/>
              </a:spcAft>
            </a:pPr>
            <a:r>
              <a:rPr sz="1700" b="1" i="0" spc="120">
                <a:solidFill>
                  <a:srgbClr val="14181B"/>
                </a:solidFill>
                <a:latin typeface="Source Serif 4"/>
              </a:rPr>
              <a:t>DOMINO</a:t>
            </a:r>
          </a:p>
        </p:txBody>
      </p:sp>
      <p:sp>
        <p:nvSpPr>
          <p:cNvPr id="8" name="Rectangle 7"/>
          <p:cNvSpPr/>
          <p:nvPr/>
        </p:nvSpPr>
        <p:spPr>
          <a:xfrm>
            <a:off x="2148840" y="182880"/>
            <a:ext cx="7315" cy="365760"/>
          </a:xfrm>
          <a:prstGeom prst="rect">
            <a:avLst/>
          </a:prstGeom>
          <a:solidFill>
            <a:srgbClr val="BCC5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2377440" y="214884"/>
            <a:ext cx="5715000" cy="310896"/>
          </a:xfrm>
          <a:prstGeom prst="rect">
            <a:avLst/>
          </a:prstGeom>
          <a:noFill/>
        </p:spPr>
        <p:txBody>
          <a:bodyPr wrap="square" lIns="0" rIns="0" tIns="0" bIns="0" anchor="t"/>
          <a:lstStyle/>
          <a:p>
            <a:pPr algn="l">
              <a:lnSpc>
                <a:spcPct val="100000"/>
              </a:lnSpc>
              <a:spcBef>
                <a:spcPts val="0"/>
              </a:spcBef>
              <a:spcAft>
                <a:spcPts val="0"/>
              </a:spcAft>
            </a:pPr>
            <a:r>
              <a:rPr sz="1900" b="1" i="0" spc="-20">
                <a:solidFill>
                  <a:srgbClr val="14181B"/>
                </a:solidFill>
                <a:latin typeface="Source Serif 4"/>
              </a:rPr>
              <a:t>Business Strategy</a:t>
            </a:r>
          </a:p>
        </p:txBody>
      </p:sp>
      <p:pic>
        <p:nvPicPr>
          <p:cNvPr id="10" name="Picture 9" descr="logo_m26.png"/>
          <p:cNvPicPr>
            <a:picLocks noChangeAspect="1"/>
          </p:cNvPicPr>
          <p:nvPr/>
        </p:nvPicPr>
        <p:blipFill>
          <a:blip r:embed="rId2"/>
          <a:stretch>
            <a:fillRect/>
          </a:stretch>
        </p:blipFill>
        <p:spPr>
          <a:xfrm>
            <a:off x="8250689" y="91440"/>
            <a:ext cx="640080" cy="475453"/>
          </a:xfrm>
          <a:prstGeom prst="rect">
            <a:avLst/>
          </a:prstGeom>
        </p:spPr>
      </p:pic>
      <p:sp>
        <p:nvSpPr>
          <p:cNvPr id="11" name="Rectangle 10"/>
          <p:cNvSpPr/>
          <p:nvPr/>
        </p:nvSpPr>
        <p:spPr>
          <a:xfrm>
            <a:off x="384048" y="841248"/>
            <a:ext cx="5175504" cy="786384"/>
          </a:xfrm>
          <a:prstGeom prst="rect">
            <a:avLst/>
          </a:prstGeom>
          <a:solidFill>
            <a:srgbClr val="BF5B12">
              <a:alpha val="10000"/>
            </a:srgbClr>
          </a:solidFill>
          <a:ln w="15240">
            <a:solidFill>
              <a:srgbClr val="BF5B12">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84048" y="841248"/>
            <a:ext cx="54864" cy="786384"/>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1005840"/>
            <a:ext cx="4754880" cy="438912"/>
          </a:xfrm>
          <a:prstGeom prst="rect">
            <a:avLst/>
          </a:prstGeom>
          <a:noFill/>
        </p:spPr>
        <p:txBody>
          <a:bodyPr wrap="square" lIns="0" rIns="0" tIns="0" bIns="0" anchor="t"/>
          <a:lstStyle/>
          <a:p>
            <a:pPr algn="l">
              <a:lnSpc>
                <a:spcPct val="100000"/>
              </a:lnSpc>
              <a:spcBef>
                <a:spcPts val="0"/>
              </a:spcBef>
              <a:spcAft>
                <a:spcPts val="0"/>
              </a:spcAft>
            </a:pPr>
            <a:r>
              <a:rPr sz="1600" b="1" i="0" spc="-20">
                <a:solidFill>
                  <a:srgbClr val="14181B"/>
                </a:solidFill>
                <a:latin typeface="Source Serif 4"/>
              </a:rPr>
              <a:t>“We have a fixed budget. Where do we spend it?”</a:t>
            </a:r>
          </a:p>
        </p:txBody>
      </p:sp>
      <p:sp>
        <p:nvSpPr>
          <p:cNvPr id="14" name="Rectangle 13"/>
          <p:cNvSpPr/>
          <p:nvPr/>
        </p:nvSpPr>
        <p:spPr>
          <a:xfrm>
            <a:off x="5724144" y="841248"/>
            <a:ext cx="3035808" cy="786384"/>
          </a:xfrm>
          <a:prstGeom prst="rect">
            <a:avLst/>
          </a:prstGeom>
          <a:solidFill>
            <a:srgbClr val="FAFBFC">
              <a:alpha val="100000"/>
            </a:srgbClr>
          </a:solidFill>
          <a:ln w="9525">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724144" y="841248"/>
            <a:ext cx="50292" cy="786384"/>
          </a:xfrm>
          <a:prstGeom prst="rect">
            <a:avLst/>
          </a:prstGeom>
          <a:solidFill>
            <a:srgbClr val="0079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925312" y="914400"/>
            <a:ext cx="2743200" cy="201168"/>
          </a:xfrm>
          <a:prstGeom prst="rect">
            <a:avLst/>
          </a:prstGeom>
          <a:noFill/>
        </p:spPr>
        <p:txBody>
          <a:bodyPr wrap="square" lIns="0" rIns="0" tIns="0" bIns="0" anchor="t"/>
          <a:lstStyle/>
          <a:p>
            <a:pPr algn="l">
              <a:lnSpc>
                <a:spcPct val="100000"/>
              </a:lnSpc>
              <a:spcBef>
                <a:spcPts val="0"/>
              </a:spcBef>
              <a:spcAft>
                <a:spcPts val="0"/>
              </a:spcAft>
            </a:pPr>
            <a:r>
              <a:rPr sz="950" b="1" i="0" spc="80">
                <a:solidFill>
                  <a:srgbClr val="00798A"/>
                </a:solidFill>
                <a:latin typeface="Libre Franklin"/>
              </a:rPr>
              <a:t>WHAT WE SELL THEM</a:t>
            </a:r>
          </a:p>
        </p:txBody>
      </p:sp>
      <p:sp>
        <p:nvSpPr>
          <p:cNvPr id="17" name="TextBox 16"/>
          <p:cNvSpPr txBox="1"/>
          <p:nvPr/>
        </p:nvSpPr>
        <p:spPr>
          <a:xfrm>
            <a:off x="5925312" y="1115568"/>
            <a:ext cx="2743200" cy="219456"/>
          </a:xfrm>
          <a:prstGeom prst="rect">
            <a:avLst/>
          </a:prstGeom>
          <a:noFill/>
        </p:spPr>
        <p:txBody>
          <a:bodyPr wrap="square" lIns="0" rIns="0" tIns="0" bIns="0" anchor="t"/>
          <a:lstStyle/>
          <a:p>
            <a:pPr algn="l">
              <a:lnSpc>
                <a:spcPct val="100000"/>
              </a:lnSpc>
              <a:spcBef>
                <a:spcPts val="0"/>
              </a:spcBef>
              <a:spcAft>
                <a:spcPts val="0"/>
              </a:spcAft>
            </a:pPr>
            <a:r>
              <a:rPr sz="1150" b="1" i="0">
                <a:solidFill>
                  <a:srgbClr val="14181B"/>
                </a:solidFill>
                <a:latin typeface="Source Serif 4"/>
              </a:rPr>
              <a:t>A resilience score, per corridor</a:t>
            </a:r>
          </a:p>
        </p:txBody>
      </p:sp>
      <p:sp>
        <p:nvSpPr>
          <p:cNvPr id="18" name="TextBox 17"/>
          <p:cNvSpPr txBox="1"/>
          <p:nvPr/>
        </p:nvSpPr>
        <p:spPr>
          <a:xfrm>
            <a:off x="5925312" y="1335024"/>
            <a:ext cx="2743200" cy="182880"/>
          </a:xfrm>
          <a:prstGeom prst="rect">
            <a:avLst/>
          </a:prstGeom>
          <a:noFill/>
        </p:spPr>
        <p:txBody>
          <a:bodyPr wrap="square" lIns="0" rIns="0" tIns="0" bIns="0" anchor="t"/>
          <a:lstStyle/>
          <a:p>
            <a:pPr algn="l">
              <a:lnSpc>
                <a:spcPct val="100000"/>
              </a:lnSpc>
              <a:spcBef>
                <a:spcPts val="0"/>
              </a:spcBef>
              <a:spcAft>
                <a:spcPts val="0"/>
              </a:spcAft>
            </a:pPr>
            <a:r>
              <a:rPr sz="1300" b="1" i="0">
                <a:solidFill>
                  <a:srgbClr val="5F6A72"/>
                </a:solidFill>
                <a:latin typeface="Source Serif 4"/>
              </a:rPr>
              <a:t>82.7</a:t>
            </a:r>
            <a:r>
              <a:rPr sz="1300" b="1" i="0">
                <a:solidFill>
                  <a:srgbClr val="97A1A8"/>
                </a:solidFill>
                <a:latin typeface="Source Serif 4"/>
              </a:rPr>
              <a:t>  →  </a:t>
            </a:r>
            <a:r>
              <a:rPr sz="1300" b="1" i="0">
                <a:solidFill>
                  <a:srgbClr val="00798A"/>
                </a:solidFill>
                <a:latin typeface="Source Serif 4"/>
              </a:rPr>
              <a:t>91.3</a:t>
            </a:r>
            <a:r>
              <a:rPr sz="900" b="1" i="0">
                <a:solidFill>
                  <a:srgbClr val="5F6A72"/>
                </a:solidFill>
                <a:latin typeface="Source Serif 4"/>
              </a:rPr>
              <a:t>  out of 100</a:t>
            </a:r>
          </a:p>
        </p:txBody>
      </p:sp>
      <p:sp>
        <p:nvSpPr>
          <p:cNvPr id="19" name="Rectangle 18"/>
          <p:cNvSpPr/>
          <p:nvPr/>
        </p:nvSpPr>
        <p:spPr>
          <a:xfrm>
            <a:off x="384048" y="1737360"/>
            <a:ext cx="4078224" cy="1389888"/>
          </a:xfrm>
          <a:prstGeom prst="rect">
            <a:avLst/>
          </a:prstGeom>
          <a:solidFill>
            <a:srgbClr val="FAFBFC">
              <a:alpha val="100000"/>
            </a:srgbClr>
          </a:solidFill>
          <a:ln w="9525">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03504" y="1828800"/>
            <a:ext cx="3657600" cy="201168"/>
          </a:xfrm>
          <a:prstGeom prst="rect">
            <a:avLst/>
          </a:prstGeom>
          <a:noFill/>
        </p:spPr>
        <p:txBody>
          <a:bodyPr wrap="square" lIns="0" rIns="0" tIns="0" bIns="0" anchor="t"/>
          <a:lstStyle/>
          <a:p>
            <a:pPr algn="l">
              <a:lnSpc>
                <a:spcPct val="100000"/>
              </a:lnSpc>
              <a:spcBef>
                <a:spcPts val="0"/>
              </a:spcBef>
              <a:spcAft>
                <a:spcPts val="0"/>
              </a:spcAft>
            </a:pPr>
            <a:r>
              <a:rPr sz="950" b="1" i="0" spc="80">
                <a:solidFill>
                  <a:srgbClr val="5F6A72"/>
                </a:solidFill>
                <a:latin typeface="Libre Franklin"/>
              </a:rPr>
              <a:t>WHO BUYS IT, AND HOW</a:t>
            </a:r>
          </a:p>
        </p:txBody>
      </p:sp>
      <p:sp>
        <p:nvSpPr>
          <p:cNvPr id="21" name="Rectangle 20"/>
          <p:cNvSpPr/>
          <p:nvPr/>
        </p:nvSpPr>
        <p:spPr>
          <a:xfrm>
            <a:off x="603504" y="2048256"/>
            <a:ext cx="1755648" cy="256032"/>
          </a:xfrm>
          <a:prstGeom prst="rect">
            <a:avLst/>
          </a:prstGeom>
          <a:solidFill>
            <a:srgbClr val="EFF1F3"/>
          </a:solidFill>
          <a:ln w="11430">
            <a:solidFill>
              <a:srgbClr val="BCC5CB">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8368" y="2048256"/>
            <a:ext cx="1645920" cy="256032"/>
          </a:xfrm>
          <a:prstGeom prst="rect">
            <a:avLst/>
          </a:prstGeom>
          <a:noFill/>
        </p:spPr>
        <p:txBody>
          <a:bodyPr wrap="square" lIns="0" rIns="0" tIns="0" bIns="0" anchor="ctr"/>
          <a:lstStyle/>
          <a:p>
            <a:pPr algn="ctr">
              <a:lnSpc>
                <a:spcPct val="100000"/>
              </a:lnSpc>
              <a:spcBef>
                <a:spcPts val="0"/>
              </a:spcBef>
              <a:spcAft>
                <a:spcPts val="0"/>
              </a:spcAft>
            </a:pPr>
            <a:r>
              <a:rPr sz="900" b="1" i="0">
                <a:solidFill>
                  <a:srgbClr val="44505A"/>
                </a:solidFill>
                <a:latin typeface="Libre Franklin"/>
              </a:rPr>
              <a:t>Municipal authorities</a:t>
            </a:r>
          </a:p>
        </p:txBody>
      </p:sp>
      <p:sp>
        <p:nvSpPr>
          <p:cNvPr id="23" name="Rectangle 22"/>
          <p:cNvSpPr/>
          <p:nvPr/>
        </p:nvSpPr>
        <p:spPr>
          <a:xfrm>
            <a:off x="2450592" y="2048256"/>
            <a:ext cx="1755648" cy="256032"/>
          </a:xfrm>
          <a:prstGeom prst="rect">
            <a:avLst/>
          </a:prstGeom>
          <a:solidFill>
            <a:srgbClr val="EFF1F3"/>
          </a:solidFill>
          <a:ln w="11430">
            <a:solidFill>
              <a:srgbClr val="BCC5CB">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505456" y="2048256"/>
            <a:ext cx="1645920" cy="256032"/>
          </a:xfrm>
          <a:prstGeom prst="rect">
            <a:avLst/>
          </a:prstGeom>
          <a:noFill/>
        </p:spPr>
        <p:txBody>
          <a:bodyPr wrap="square" lIns="0" rIns="0" tIns="0" bIns="0" anchor="ctr"/>
          <a:lstStyle/>
          <a:p>
            <a:pPr algn="ctr">
              <a:lnSpc>
                <a:spcPct val="100000"/>
              </a:lnSpc>
              <a:spcBef>
                <a:spcPts val="0"/>
              </a:spcBef>
              <a:spcAft>
                <a:spcPts val="0"/>
              </a:spcAft>
            </a:pPr>
            <a:r>
              <a:rPr sz="900" b="1" i="0">
                <a:solidFill>
                  <a:srgbClr val="44505A"/>
                </a:solidFill>
                <a:latin typeface="Libre Franklin"/>
              </a:rPr>
              <a:t>District disaster management</a:t>
            </a:r>
          </a:p>
        </p:txBody>
      </p:sp>
      <p:sp>
        <p:nvSpPr>
          <p:cNvPr id="25" name="Rectangle 24"/>
          <p:cNvSpPr/>
          <p:nvPr/>
        </p:nvSpPr>
        <p:spPr>
          <a:xfrm>
            <a:off x="603504" y="2359152"/>
            <a:ext cx="1755648" cy="256032"/>
          </a:xfrm>
          <a:prstGeom prst="rect">
            <a:avLst/>
          </a:prstGeom>
          <a:solidFill>
            <a:srgbClr val="EFF1F3"/>
          </a:solidFill>
          <a:ln w="11430">
            <a:solidFill>
              <a:srgbClr val="BCC5CB">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8368" y="2359152"/>
            <a:ext cx="1645920" cy="256032"/>
          </a:xfrm>
          <a:prstGeom prst="rect">
            <a:avLst/>
          </a:prstGeom>
          <a:noFill/>
        </p:spPr>
        <p:txBody>
          <a:bodyPr wrap="square" lIns="0" rIns="0" tIns="0" bIns="0" anchor="ctr"/>
          <a:lstStyle/>
          <a:p>
            <a:pPr algn="ctr">
              <a:lnSpc>
                <a:spcPct val="100000"/>
              </a:lnSpc>
              <a:spcBef>
                <a:spcPts val="0"/>
              </a:spcBef>
              <a:spcAft>
                <a:spcPts val="0"/>
              </a:spcAft>
            </a:pPr>
            <a:r>
              <a:rPr sz="900" b="1" i="0">
                <a:solidFill>
                  <a:srgbClr val="44505A"/>
                </a:solidFill>
                <a:latin typeface="Libre Franklin"/>
              </a:rPr>
              <a:t>Emergency services</a:t>
            </a:r>
          </a:p>
        </p:txBody>
      </p:sp>
      <p:sp>
        <p:nvSpPr>
          <p:cNvPr id="27" name="Rectangle 26"/>
          <p:cNvSpPr/>
          <p:nvPr/>
        </p:nvSpPr>
        <p:spPr>
          <a:xfrm>
            <a:off x="2450592" y="2359152"/>
            <a:ext cx="1755648" cy="256032"/>
          </a:xfrm>
          <a:prstGeom prst="rect">
            <a:avLst/>
          </a:prstGeom>
          <a:solidFill>
            <a:srgbClr val="EFF1F3"/>
          </a:solidFill>
          <a:ln w="11430">
            <a:solidFill>
              <a:srgbClr val="BCC5CB">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505456" y="2359152"/>
            <a:ext cx="1645920" cy="256032"/>
          </a:xfrm>
          <a:prstGeom prst="rect">
            <a:avLst/>
          </a:prstGeom>
          <a:noFill/>
        </p:spPr>
        <p:txBody>
          <a:bodyPr wrap="square" lIns="0" rIns="0" tIns="0" bIns="0" anchor="ctr"/>
          <a:lstStyle/>
          <a:p>
            <a:pPr algn="ctr">
              <a:lnSpc>
                <a:spcPct val="100000"/>
              </a:lnSpc>
              <a:spcBef>
                <a:spcPts val="0"/>
              </a:spcBef>
              <a:spcAft>
                <a:spcPts val="0"/>
              </a:spcAft>
            </a:pPr>
            <a:r>
              <a:rPr sz="900" b="1" i="0">
                <a:solidFill>
                  <a:srgbClr val="44505A"/>
                </a:solidFill>
                <a:latin typeface="Libre Franklin"/>
              </a:rPr>
              <a:t>Infrastructure operators</a:t>
            </a:r>
          </a:p>
        </p:txBody>
      </p:sp>
      <p:sp>
        <p:nvSpPr>
          <p:cNvPr id="29" name="TextBox 28"/>
          <p:cNvSpPr txBox="1"/>
          <p:nvPr/>
        </p:nvSpPr>
        <p:spPr>
          <a:xfrm>
            <a:off x="603504" y="2724912"/>
            <a:ext cx="3657600" cy="219456"/>
          </a:xfrm>
          <a:prstGeom prst="rect">
            <a:avLst/>
          </a:prstGeom>
          <a:noFill/>
        </p:spPr>
        <p:txBody>
          <a:bodyPr wrap="square" lIns="0" rIns="0" tIns="0" bIns="0" anchor="t"/>
          <a:lstStyle/>
          <a:p>
            <a:pPr algn="l">
              <a:lnSpc>
                <a:spcPct val="100000"/>
              </a:lnSpc>
              <a:spcBef>
                <a:spcPts val="0"/>
              </a:spcBef>
              <a:spcAft>
                <a:spcPts val="0"/>
              </a:spcAft>
            </a:pPr>
            <a:r>
              <a:rPr sz="1150" b="1" i="0">
                <a:solidFill>
                  <a:srgbClr val="14181B"/>
                </a:solidFill>
                <a:latin typeface="Source Serif 4"/>
              </a:rPr>
              <a:t>B2G / B2B SaaS, plus deployment and integration</a:t>
            </a:r>
          </a:p>
        </p:txBody>
      </p:sp>
      <p:sp>
        <p:nvSpPr>
          <p:cNvPr id="30" name="Rectangle 29"/>
          <p:cNvSpPr/>
          <p:nvPr/>
        </p:nvSpPr>
        <p:spPr>
          <a:xfrm>
            <a:off x="4681728" y="1737360"/>
            <a:ext cx="4078224" cy="1389888"/>
          </a:xfrm>
          <a:prstGeom prst="rect">
            <a:avLst/>
          </a:prstGeom>
          <a:solidFill>
            <a:srgbClr val="FAFBFC">
              <a:alpha val="100000"/>
            </a:srgbClr>
          </a:solidFill>
          <a:ln w="9525">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901184" y="1828800"/>
            <a:ext cx="3657600" cy="201168"/>
          </a:xfrm>
          <a:prstGeom prst="rect">
            <a:avLst/>
          </a:prstGeom>
          <a:noFill/>
        </p:spPr>
        <p:txBody>
          <a:bodyPr wrap="square" lIns="0" rIns="0" tIns="0" bIns="0" anchor="t"/>
          <a:lstStyle/>
          <a:p>
            <a:pPr algn="l">
              <a:lnSpc>
                <a:spcPct val="100000"/>
              </a:lnSpc>
              <a:spcBef>
                <a:spcPts val="0"/>
              </a:spcBef>
              <a:spcAft>
                <a:spcPts val="0"/>
              </a:spcAft>
            </a:pPr>
            <a:r>
              <a:rPr sz="950" b="1" i="0" spc="80">
                <a:solidFill>
                  <a:srgbClr val="5F6A72"/>
                </a:solidFill>
                <a:latin typeface="Libre Franklin"/>
              </a:rPr>
              <a:t>ROADMAP, ONE LAYER AT A TIME</a:t>
            </a:r>
          </a:p>
        </p:txBody>
      </p:sp>
      <p:pic>
        <p:nvPicPr>
          <p:cNvPr id="32" name="Picture 31" descr="route_c05b3e3752ce.png"/>
          <p:cNvPicPr>
            <a:picLocks noChangeAspect="1"/>
          </p:cNvPicPr>
          <p:nvPr/>
        </p:nvPicPr>
        <p:blipFill>
          <a:blip r:embed="rId3"/>
          <a:stretch>
            <a:fillRect/>
          </a:stretch>
        </p:blipFill>
        <p:spPr>
          <a:xfrm>
            <a:off x="4901184" y="2080260"/>
            <a:ext cx="155448" cy="155448"/>
          </a:xfrm>
          <a:prstGeom prst="rect">
            <a:avLst/>
          </a:prstGeom>
        </p:spPr>
      </p:pic>
      <p:sp>
        <p:nvSpPr>
          <p:cNvPr id="33" name="TextBox 32"/>
          <p:cNvSpPr txBox="1"/>
          <p:nvPr/>
        </p:nvSpPr>
        <p:spPr>
          <a:xfrm>
            <a:off x="5138928" y="2057400"/>
            <a:ext cx="3474720" cy="182880"/>
          </a:xfrm>
          <a:prstGeom prst="rect">
            <a:avLst/>
          </a:prstGeom>
          <a:noFill/>
        </p:spPr>
        <p:txBody>
          <a:bodyPr wrap="square" lIns="0" rIns="0" tIns="0" bIns="0" anchor="t"/>
          <a:lstStyle/>
          <a:p>
            <a:pPr algn="l">
              <a:lnSpc>
                <a:spcPct val="100000"/>
              </a:lnSpc>
              <a:spcBef>
                <a:spcPts val="0"/>
              </a:spcBef>
              <a:spcAft>
                <a:spcPts val="0"/>
              </a:spcAft>
            </a:pPr>
            <a:r>
              <a:rPr sz="1050" b="1" i="0">
                <a:solidFill>
                  <a:srgbClr val="14181B"/>
                </a:solidFill>
                <a:latin typeface="Source Serif 4"/>
              </a:rPr>
              <a:t>Live traffic</a:t>
            </a:r>
          </a:p>
        </p:txBody>
      </p:sp>
      <p:sp>
        <p:nvSpPr>
          <p:cNvPr id="34" name="TextBox 33"/>
          <p:cNvSpPr txBox="1"/>
          <p:nvPr/>
        </p:nvSpPr>
        <p:spPr>
          <a:xfrm>
            <a:off x="5138928" y="2235708"/>
            <a:ext cx="3438144" cy="182880"/>
          </a:xfrm>
          <a:prstGeom prst="rect">
            <a:avLst/>
          </a:prstGeom>
          <a:noFill/>
        </p:spPr>
        <p:txBody>
          <a:bodyPr wrap="square" lIns="0" rIns="0" tIns="0" bIns="0" anchor="t"/>
          <a:lstStyle/>
          <a:p>
            <a:pPr algn="l">
              <a:lnSpc>
                <a:spcPct val="106000"/>
              </a:lnSpc>
              <a:spcBef>
                <a:spcPts val="0"/>
              </a:spcBef>
              <a:spcAft>
                <a:spcPts val="0"/>
              </a:spcAft>
            </a:pPr>
            <a:r>
              <a:rPr sz="900" b="0" i="0">
                <a:solidFill>
                  <a:srgbClr val="5F6A72"/>
                </a:solidFill>
                <a:latin typeface="Libre Franklin"/>
              </a:rPr>
              <a:t>observed load, not modelled reroute</a:t>
            </a:r>
          </a:p>
        </p:txBody>
      </p:sp>
      <p:pic>
        <p:nvPicPr>
          <p:cNvPr id="35" name="Picture 34" descr="wave_834b8b8efac0.png"/>
          <p:cNvPicPr>
            <a:picLocks noChangeAspect="1"/>
          </p:cNvPicPr>
          <p:nvPr/>
        </p:nvPicPr>
        <p:blipFill>
          <a:blip r:embed="rId4"/>
          <a:stretch>
            <a:fillRect/>
          </a:stretch>
        </p:blipFill>
        <p:spPr>
          <a:xfrm>
            <a:off x="4901184" y="2427732"/>
            <a:ext cx="155448" cy="155448"/>
          </a:xfrm>
          <a:prstGeom prst="rect">
            <a:avLst/>
          </a:prstGeom>
        </p:spPr>
      </p:pic>
      <p:sp>
        <p:nvSpPr>
          <p:cNvPr id="36" name="TextBox 35"/>
          <p:cNvSpPr txBox="1"/>
          <p:nvPr/>
        </p:nvSpPr>
        <p:spPr>
          <a:xfrm>
            <a:off x="5138928" y="2404872"/>
            <a:ext cx="3474720" cy="182880"/>
          </a:xfrm>
          <a:prstGeom prst="rect">
            <a:avLst/>
          </a:prstGeom>
          <a:noFill/>
        </p:spPr>
        <p:txBody>
          <a:bodyPr wrap="square" lIns="0" rIns="0" tIns="0" bIns="0" anchor="t"/>
          <a:lstStyle/>
          <a:p>
            <a:pPr algn="l">
              <a:lnSpc>
                <a:spcPct val="100000"/>
              </a:lnSpc>
              <a:spcBef>
                <a:spcPts val="0"/>
              </a:spcBef>
              <a:spcAft>
                <a:spcPts val="0"/>
              </a:spcAft>
            </a:pPr>
            <a:r>
              <a:rPr sz="1050" b="1" i="0">
                <a:solidFill>
                  <a:srgbClr val="14181B"/>
                </a:solidFill>
                <a:latin typeface="Source Serif 4"/>
              </a:rPr>
              <a:t>Tower telemetry</a:t>
            </a:r>
          </a:p>
        </p:txBody>
      </p:sp>
      <p:sp>
        <p:nvSpPr>
          <p:cNvPr id="37" name="TextBox 36"/>
          <p:cNvSpPr txBox="1"/>
          <p:nvPr/>
        </p:nvSpPr>
        <p:spPr>
          <a:xfrm>
            <a:off x="5138928" y="2583180"/>
            <a:ext cx="3438144" cy="182880"/>
          </a:xfrm>
          <a:prstGeom prst="rect">
            <a:avLst/>
          </a:prstGeom>
          <a:noFill/>
        </p:spPr>
        <p:txBody>
          <a:bodyPr wrap="square" lIns="0" rIns="0" tIns="0" bIns="0" anchor="t"/>
          <a:lstStyle/>
          <a:p>
            <a:pPr algn="l">
              <a:lnSpc>
                <a:spcPct val="106000"/>
              </a:lnSpc>
              <a:spcBef>
                <a:spcPts val="0"/>
              </a:spcBef>
              <a:spcAft>
                <a:spcPts val="0"/>
              </a:spcAft>
            </a:pPr>
            <a:r>
              <a:rPr sz="900" b="0" i="0">
                <a:solidFill>
                  <a:srgbClr val="5F6A72"/>
                </a:solidFill>
                <a:latin typeface="Libre Franklin"/>
              </a:rPr>
              <a:t>real coverage state during an event</a:t>
            </a:r>
          </a:p>
        </p:txBody>
      </p:sp>
      <p:pic>
        <p:nvPicPr>
          <p:cNvPr id="38" name="Picture 37" descr="phone_86cdbbc70b49.png"/>
          <p:cNvPicPr>
            <a:picLocks noChangeAspect="1"/>
          </p:cNvPicPr>
          <p:nvPr/>
        </p:nvPicPr>
        <p:blipFill>
          <a:blip r:embed="rId5"/>
          <a:stretch>
            <a:fillRect/>
          </a:stretch>
        </p:blipFill>
        <p:spPr>
          <a:xfrm>
            <a:off x="4901184" y="2775204"/>
            <a:ext cx="155448" cy="155448"/>
          </a:xfrm>
          <a:prstGeom prst="rect">
            <a:avLst/>
          </a:prstGeom>
        </p:spPr>
      </p:pic>
      <p:sp>
        <p:nvSpPr>
          <p:cNvPr id="39" name="TextBox 38"/>
          <p:cNvSpPr txBox="1"/>
          <p:nvPr/>
        </p:nvSpPr>
        <p:spPr>
          <a:xfrm>
            <a:off x="5138928" y="2752344"/>
            <a:ext cx="3474720" cy="182880"/>
          </a:xfrm>
          <a:prstGeom prst="rect">
            <a:avLst/>
          </a:prstGeom>
          <a:noFill/>
        </p:spPr>
        <p:txBody>
          <a:bodyPr wrap="square" lIns="0" rIns="0" tIns="0" bIns="0" anchor="t"/>
          <a:lstStyle/>
          <a:p>
            <a:pPr algn="l">
              <a:lnSpc>
                <a:spcPct val="100000"/>
              </a:lnSpc>
              <a:spcBef>
                <a:spcPts val="0"/>
              </a:spcBef>
              <a:spcAft>
                <a:spcPts val="0"/>
              </a:spcAft>
            </a:pPr>
            <a:r>
              <a:rPr sz="1050" b="1" i="0">
                <a:solidFill>
                  <a:srgbClr val="14181B"/>
                </a:solidFill>
                <a:latin typeface="Source Serif 4"/>
              </a:rPr>
              <a:t>Peer-to-peer relay</a:t>
            </a:r>
          </a:p>
        </p:txBody>
      </p:sp>
      <p:sp>
        <p:nvSpPr>
          <p:cNvPr id="40" name="TextBox 39"/>
          <p:cNvSpPr txBox="1"/>
          <p:nvPr/>
        </p:nvSpPr>
        <p:spPr>
          <a:xfrm>
            <a:off x="5138928" y="2930652"/>
            <a:ext cx="3438144" cy="182880"/>
          </a:xfrm>
          <a:prstGeom prst="rect">
            <a:avLst/>
          </a:prstGeom>
          <a:noFill/>
        </p:spPr>
        <p:txBody>
          <a:bodyPr wrap="square" lIns="0" rIns="0" tIns="0" bIns="0" anchor="t"/>
          <a:lstStyle/>
          <a:p>
            <a:pPr algn="l">
              <a:lnSpc>
                <a:spcPct val="106000"/>
              </a:lnSpc>
              <a:spcBef>
                <a:spcPts val="0"/>
              </a:spcBef>
              <a:spcAft>
                <a:spcPts val="0"/>
              </a:spcAft>
            </a:pPr>
            <a:r>
              <a:rPr sz="900" b="0" i="0">
                <a:solidFill>
                  <a:srgbClr val="5F6A72"/>
                </a:solidFill>
                <a:latin typeface="Libre Franklin"/>
              </a:rPr>
              <a:t>store-and-forward between nearby devices</a:t>
            </a:r>
          </a:p>
        </p:txBody>
      </p:sp>
      <p:sp>
        <p:nvSpPr>
          <p:cNvPr id="41" name="Rectangle 40"/>
          <p:cNvSpPr/>
          <p:nvPr/>
        </p:nvSpPr>
        <p:spPr>
          <a:xfrm>
            <a:off x="384048" y="3255264"/>
            <a:ext cx="4078224" cy="1005840"/>
          </a:xfrm>
          <a:prstGeom prst="rect">
            <a:avLst/>
          </a:prstGeom>
          <a:solidFill>
            <a:srgbClr val="AD1457">
              <a:alpha val="11000"/>
            </a:srgbClr>
          </a:solidFill>
          <a:ln w="15240">
            <a:solidFill>
              <a:srgbClr val="AD1457">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384048" y="3255264"/>
            <a:ext cx="50292" cy="1005840"/>
          </a:xfrm>
          <a:prstGeom prst="rect">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03504" y="3346704"/>
            <a:ext cx="3657600" cy="201168"/>
          </a:xfrm>
          <a:prstGeom prst="rect">
            <a:avLst/>
          </a:prstGeom>
          <a:noFill/>
        </p:spPr>
        <p:txBody>
          <a:bodyPr wrap="square" lIns="0" rIns="0" tIns="0" bIns="0" anchor="t"/>
          <a:lstStyle/>
          <a:p>
            <a:pPr algn="l">
              <a:lnSpc>
                <a:spcPct val="100000"/>
              </a:lnSpc>
              <a:spcBef>
                <a:spcPts val="0"/>
              </a:spcBef>
              <a:spcAft>
                <a:spcPts val="0"/>
              </a:spcAft>
            </a:pPr>
            <a:r>
              <a:rPr sz="950" b="1" i="0" spc="80">
                <a:solidFill>
                  <a:srgbClr val="5F6A72"/>
                </a:solidFill>
                <a:latin typeface="Libre Franklin"/>
              </a:rPr>
              <a:t>THE ASK</a:t>
            </a:r>
          </a:p>
        </p:txBody>
      </p:sp>
      <p:sp>
        <p:nvSpPr>
          <p:cNvPr id="44" name="TextBox 43"/>
          <p:cNvSpPr txBox="1"/>
          <p:nvPr/>
        </p:nvSpPr>
        <p:spPr>
          <a:xfrm>
            <a:off x="603504" y="3584448"/>
            <a:ext cx="3639312" cy="603504"/>
          </a:xfrm>
          <a:prstGeom prst="rect">
            <a:avLst/>
          </a:prstGeom>
          <a:noFill/>
        </p:spPr>
        <p:txBody>
          <a:bodyPr wrap="square" lIns="0" rIns="0" tIns="0" bIns="0" anchor="t"/>
          <a:lstStyle/>
          <a:p>
            <a:pPr algn="l">
              <a:lnSpc>
                <a:spcPct val="118000"/>
              </a:lnSpc>
              <a:spcBef>
                <a:spcPts val="0"/>
              </a:spcBef>
              <a:spcAft>
                <a:spcPts val="0"/>
              </a:spcAft>
            </a:pPr>
            <a:r>
              <a:rPr sz="950" b="0" i="0">
                <a:solidFill>
                  <a:srgbClr val="14181B"/>
                </a:solidFill>
                <a:latin typeface="Libre Franklin"/>
              </a:rPr>
              <a:t>One corridor, one monsoon season, with the Udupi city municipal council and the district disaster management authority, replaying last year's closures.</a:t>
            </a:r>
          </a:p>
        </p:txBody>
      </p:sp>
      <p:sp>
        <p:nvSpPr>
          <p:cNvPr id="45" name="Rectangle 44"/>
          <p:cNvSpPr/>
          <p:nvPr/>
        </p:nvSpPr>
        <p:spPr>
          <a:xfrm>
            <a:off x="4681728" y="3255264"/>
            <a:ext cx="4078224" cy="1005840"/>
          </a:xfrm>
          <a:prstGeom prst="rect">
            <a:avLst/>
          </a:prstGeom>
          <a:solidFill>
            <a:srgbClr val="FAFBFC">
              <a:alpha val="100000"/>
            </a:srgbClr>
          </a:solidFill>
          <a:ln w="9525">
            <a:solidFill>
              <a:srgbClr val="DCE1E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4681728" y="3255264"/>
            <a:ext cx="50292" cy="1005840"/>
          </a:xfrm>
          <a:prstGeom prst="rect">
            <a:avLst/>
          </a:prstGeom>
          <a:solidFill>
            <a:srgbClr val="0079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4901184" y="3346704"/>
            <a:ext cx="3657600" cy="201168"/>
          </a:xfrm>
          <a:prstGeom prst="rect">
            <a:avLst/>
          </a:prstGeom>
          <a:noFill/>
        </p:spPr>
        <p:txBody>
          <a:bodyPr wrap="square" lIns="0" rIns="0" tIns="0" bIns="0" anchor="t"/>
          <a:lstStyle/>
          <a:p>
            <a:pPr algn="l">
              <a:lnSpc>
                <a:spcPct val="100000"/>
              </a:lnSpc>
              <a:spcBef>
                <a:spcPts val="0"/>
              </a:spcBef>
              <a:spcAft>
                <a:spcPts val="0"/>
              </a:spcAft>
            </a:pPr>
            <a:r>
              <a:rPr sz="950" b="1" i="0" spc="80">
                <a:solidFill>
                  <a:srgbClr val="00798A"/>
                </a:solidFill>
                <a:latin typeface="Libre Franklin"/>
              </a:rPr>
              <a:t>WHY THEY KEEP PAYING</a:t>
            </a:r>
          </a:p>
        </p:txBody>
      </p:sp>
      <p:sp>
        <p:nvSpPr>
          <p:cNvPr id="48" name="TextBox 47"/>
          <p:cNvSpPr txBox="1"/>
          <p:nvPr/>
        </p:nvSpPr>
        <p:spPr>
          <a:xfrm>
            <a:off x="4901184" y="3584448"/>
            <a:ext cx="3639312" cy="603504"/>
          </a:xfrm>
          <a:prstGeom prst="rect">
            <a:avLst/>
          </a:prstGeom>
          <a:noFill/>
        </p:spPr>
        <p:txBody>
          <a:bodyPr wrap="square" lIns="0" rIns="0" tIns="0" bIns="0" anchor="t"/>
          <a:lstStyle/>
          <a:p>
            <a:pPr algn="l">
              <a:lnSpc>
                <a:spcPct val="118000"/>
              </a:lnSpc>
              <a:spcBef>
                <a:spcPts val="0"/>
              </a:spcBef>
              <a:spcAft>
                <a:spcPts val="0"/>
              </a:spcAft>
            </a:pPr>
            <a:r>
              <a:rPr sz="950" b="0" i="0">
                <a:solidFill>
                  <a:srgbClr val="14181B"/>
                </a:solidFill>
                <a:latin typeface="Libre Franklin"/>
              </a:rPr>
              <a:t>The horizon changes every time the city builds something. A resilience score has to be recomputed each year, which turns a one-off disaster purchase into a line in the annual capital budget.</a:t>
            </a:r>
          </a:p>
        </p:txBody>
      </p:sp>
      <p:sp>
        <p:nvSpPr>
          <p:cNvPr id="49" name="Rectangle 48"/>
          <p:cNvSpPr/>
          <p:nvPr/>
        </p:nvSpPr>
        <p:spPr>
          <a:xfrm>
            <a:off x="384048" y="4334256"/>
            <a:ext cx="50292" cy="384048"/>
          </a:xfrm>
          <a:prstGeom prst="rect">
            <a:avLst/>
          </a:prstGeom>
          <a:solidFill>
            <a:srgbClr val="BF5B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03504" y="4315968"/>
            <a:ext cx="5669280" cy="420624"/>
          </a:xfrm>
          <a:prstGeom prst="rect">
            <a:avLst/>
          </a:prstGeom>
          <a:noFill/>
        </p:spPr>
        <p:txBody>
          <a:bodyPr wrap="square" lIns="0" rIns="0" tIns="0" bIns="0" anchor="t"/>
          <a:lstStyle/>
          <a:p>
            <a:pPr algn="l">
              <a:lnSpc>
                <a:spcPct val="112000"/>
              </a:lnSpc>
              <a:spcBef>
                <a:spcPts val="0"/>
              </a:spcBef>
              <a:spcAft>
                <a:spcPts val="0"/>
              </a:spcAft>
            </a:pPr>
            <a:r>
              <a:rPr sz="1500" b="1" i="0" spc="-20">
                <a:solidFill>
                  <a:srgbClr val="14181B"/>
                </a:solidFill>
                <a:latin typeface="Source Serif 4"/>
              </a:rPr>
              <a:t>Don’t just predict the cascade.</a:t>
            </a:r>
          </a:p>
          <a:p>
            <a:pPr algn="l">
              <a:lnSpc>
                <a:spcPct val="112000"/>
              </a:lnSpc>
              <a:spcBef>
                <a:spcPts val="0"/>
              </a:spcBef>
              <a:spcAft>
                <a:spcPts val="0"/>
              </a:spcAft>
            </a:pPr>
            <a:r>
              <a:rPr sz="1500" b="1" i="0" spc="-20">
                <a:solidFill>
                  <a:srgbClr val="BF5B12"/>
                </a:solidFill>
                <a:latin typeface="Source Serif 4"/>
              </a:rPr>
              <a:t>Find where it can still be stopped.</a:t>
            </a:r>
          </a:p>
        </p:txBody>
      </p:sp>
      <p:sp>
        <p:nvSpPr>
          <p:cNvPr id="51" name="TextBox 50"/>
          <p:cNvSpPr txBox="1"/>
          <p:nvPr/>
        </p:nvSpPr>
        <p:spPr>
          <a:xfrm>
            <a:off x="6382512" y="4425696"/>
            <a:ext cx="2377440" cy="237744"/>
          </a:xfrm>
          <a:prstGeom prst="rect">
            <a:avLst/>
          </a:prstGeom>
          <a:noFill/>
        </p:spPr>
        <p:txBody>
          <a:bodyPr wrap="square" lIns="0" rIns="0" tIns="0" bIns="0" anchor="t"/>
          <a:lstStyle/>
          <a:p>
            <a:pPr algn="r">
              <a:lnSpc>
                <a:spcPct val="100000"/>
              </a:lnSpc>
              <a:spcBef>
                <a:spcPts val="0"/>
              </a:spcBef>
              <a:spcAft>
                <a:spcPts val="0"/>
              </a:spcAft>
            </a:pPr>
            <a:r>
              <a:rPr sz="1700" b="1" i="0" spc="160">
                <a:solidFill>
                  <a:srgbClr val="14181B"/>
                </a:solidFill>
                <a:latin typeface="Source Serif 4"/>
              </a:rPr>
              <a:t>DOMINO</a:t>
            </a:r>
          </a:p>
        </p:txBody>
      </p:sp>
      <p:sp>
        <p:nvSpPr>
          <p:cNvPr id="52" name="Rectangle 51"/>
          <p:cNvSpPr/>
          <p:nvPr/>
        </p:nvSpPr>
        <p:spPr>
          <a:xfrm>
            <a:off x="0" y="4855464"/>
            <a:ext cx="9144000" cy="10973"/>
          </a:xfrm>
          <a:prstGeom prst="rect">
            <a:avLst/>
          </a:prstGeom>
          <a:solidFill>
            <a:srgbClr val="DCE1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384048" y="4914900"/>
            <a:ext cx="3291840" cy="182880"/>
          </a:xfrm>
          <a:prstGeom prst="rect">
            <a:avLst/>
          </a:prstGeom>
          <a:noFill/>
        </p:spPr>
        <p:txBody>
          <a:bodyPr wrap="square" lIns="0" rIns="0" tIns="0" bIns="0" anchor="t"/>
          <a:lstStyle/>
          <a:p>
            <a:pPr algn="l">
              <a:lnSpc>
                <a:spcPct val="100000"/>
              </a:lnSpc>
              <a:spcBef>
                <a:spcPts val="0"/>
              </a:spcBef>
              <a:spcAft>
                <a:spcPts val="0"/>
              </a:spcAft>
            </a:pPr>
            <a:r>
              <a:rPr sz="900" b="1" i="0" spc="50">
                <a:solidFill>
                  <a:srgbClr val="97A1A8"/>
                </a:solidFill>
                <a:latin typeface="Libre Franklin"/>
              </a:rPr>
              <a:t>M#26  ·  P05  ·  TEAM MOSSAD.EXE</a:t>
            </a:r>
          </a:p>
        </p:txBody>
      </p:sp>
      <p:sp>
        <p:nvSpPr>
          <p:cNvPr id="54" name="TextBox 53"/>
          <p:cNvSpPr txBox="1"/>
          <p:nvPr/>
        </p:nvSpPr>
        <p:spPr>
          <a:xfrm>
            <a:off x="3685032" y="4914900"/>
            <a:ext cx="4773168" cy="182880"/>
          </a:xfrm>
          <a:prstGeom prst="rect">
            <a:avLst/>
          </a:prstGeom>
          <a:noFill/>
        </p:spPr>
        <p:txBody>
          <a:bodyPr wrap="square" lIns="0" rIns="0" tIns="0" bIns="0" anchor="t"/>
          <a:lstStyle/>
          <a:p>
            <a:pPr algn="r">
              <a:lnSpc>
                <a:spcPct val="100000"/>
              </a:lnSpc>
              <a:spcBef>
                <a:spcPts val="0"/>
              </a:spcBef>
              <a:spcAft>
                <a:spcPts val="0"/>
              </a:spcAft>
            </a:pPr>
            <a:r>
              <a:rPr sz="900" b="0" i="0" spc="20">
                <a:solidFill>
                  <a:srgbClr val="97A1A8"/>
                </a:solidFill>
                <a:latin typeface="Libre Franklin"/>
              </a:rPr>
              <a:t>One corridor, one season, one number a city can act on.</a:t>
            </a:r>
          </a:p>
        </p:txBody>
      </p:sp>
      <p:sp>
        <p:nvSpPr>
          <p:cNvPr id="55" name="TextBox 54"/>
          <p:cNvSpPr txBox="1"/>
          <p:nvPr/>
        </p:nvSpPr>
        <p:spPr>
          <a:xfrm>
            <a:off x="8467344" y="4905756"/>
            <a:ext cx="292608" cy="201168"/>
          </a:xfrm>
          <a:prstGeom prst="rect">
            <a:avLst/>
          </a:prstGeom>
          <a:noFill/>
        </p:spPr>
        <p:txBody>
          <a:bodyPr wrap="square" lIns="0" rIns="0" tIns="0" bIns="0" anchor="t"/>
          <a:lstStyle/>
          <a:p>
            <a:pPr algn="r">
              <a:lnSpc>
                <a:spcPct val="100000"/>
              </a:lnSpc>
              <a:spcBef>
                <a:spcPts val="0"/>
              </a:spcBef>
              <a:spcAft>
                <a:spcPts val="0"/>
              </a:spcAft>
            </a:pPr>
            <a:r>
              <a:rPr sz="1100" b="1" i="0">
                <a:solidFill>
                  <a:srgbClr val="5F6A72"/>
                </a:solidFill>
                <a:latin typeface="Source Serif 4"/>
              </a:rPr>
              <a:t>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